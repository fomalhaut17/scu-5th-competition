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4" r:id="rId2"/>
    <p:sldId id="271" r:id="rId3"/>
    <p:sldId id="258" r:id="rId4"/>
    <p:sldId id="260" r:id="rId5"/>
    <p:sldId id="263" r:id="rId6"/>
    <p:sldId id="261" r:id="rId7"/>
    <p:sldId id="267" r:id="rId8"/>
    <p:sldId id="272" r:id="rId9"/>
    <p:sldId id="273" r:id="rId10"/>
    <p:sldId id="274" r:id="rId11"/>
    <p:sldId id="275" r:id="rId12"/>
    <p:sldId id="262" r:id="rId13"/>
    <p:sldId id="27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>
      <p:cViewPr>
        <p:scale>
          <a:sx n="125" d="100"/>
          <a:sy n="125" d="100"/>
        </p:scale>
        <p:origin x="2124" y="7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19A6F-7B4E-4B32-ADAA-7EC6B457DF6E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8538D-A4B2-4E82-BC2A-22BAB2533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442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1AAED-1C8E-4733-A964-A95C938D0B55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73B7D-AAF8-437E-BDCB-E36540C9B5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7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01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928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CF3C5-26C2-45DB-BD26-4E2C1CD6CE6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61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C3515A1-CB60-58C7-2E79-70250AA24085}"/>
              </a:ext>
            </a:extLst>
          </p:cNvPr>
          <p:cNvSpPr/>
          <p:nvPr userDrawn="1"/>
        </p:nvSpPr>
        <p:spPr>
          <a:xfrm>
            <a:off x="0" y="-12699"/>
            <a:ext cx="12192000" cy="665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2BF1E0-FF08-FE9B-8088-B7F210128B47}"/>
              </a:ext>
            </a:extLst>
          </p:cNvPr>
          <p:cNvGrpSpPr/>
          <p:nvPr userDrawn="1"/>
        </p:nvGrpSpPr>
        <p:grpSpPr>
          <a:xfrm rot="5400000">
            <a:off x="-64413" y="257848"/>
            <a:ext cx="547640" cy="251116"/>
            <a:chOff x="1558441" y="703383"/>
            <a:chExt cx="3752344" cy="3648847"/>
          </a:xfrm>
          <a:solidFill>
            <a:srgbClr val="72A020"/>
          </a:solidFill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E58D1BD-C393-027C-D4F7-5075F962F4BB}"/>
                </a:ext>
              </a:extLst>
            </p:cNvPr>
            <p:cNvSpPr/>
            <p:nvPr/>
          </p:nvSpPr>
          <p:spPr bwMode="auto">
            <a:xfrm>
              <a:off x="156029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B7D646"/>
                </a:gs>
                <a:gs pos="83000">
                  <a:srgbClr val="72A020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87D6753-434C-F6ED-2B29-7C143950772D}"/>
                </a:ext>
              </a:extLst>
            </p:cNvPr>
            <p:cNvSpPr/>
            <p:nvPr/>
          </p:nvSpPr>
          <p:spPr bwMode="auto">
            <a:xfrm>
              <a:off x="300152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2A020"/>
                </a:gs>
                <a:gs pos="100000">
                  <a:srgbClr val="3D6F1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endParaRP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ACC78BC8-D19C-03C2-122A-609B347405D2}"/>
                </a:ext>
              </a:extLst>
            </p:cNvPr>
            <p:cNvSpPr/>
            <p:nvPr/>
          </p:nvSpPr>
          <p:spPr bwMode="auto">
            <a:xfrm>
              <a:off x="1558441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B7D646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AFB4212-D4FF-2369-4423-2879DFE3D584}"/>
                </a:ext>
              </a:extLst>
            </p:cNvPr>
            <p:cNvSpPr/>
            <p:nvPr/>
          </p:nvSpPr>
          <p:spPr bwMode="auto">
            <a:xfrm>
              <a:off x="4447185" y="704850"/>
              <a:ext cx="863600" cy="36449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87BECB"/>
                </a:gs>
                <a:gs pos="83000">
                  <a:srgbClr val="87BECB">
                    <a:lumMod val="7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F47031D0-533D-CB8D-064F-8813EDD619F9}"/>
                </a:ext>
              </a:extLst>
            </p:cNvPr>
            <p:cNvSpPr/>
            <p:nvPr/>
          </p:nvSpPr>
          <p:spPr bwMode="auto">
            <a:xfrm>
              <a:off x="3001604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87BECB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</a:endParaRPr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734E981-2633-0D8E-126D-56DC0279CD70}"/>
              </a:ext>
            </a:extLst>
          </p:cNvPr>
          <p:cNvSpPr/>
          <p:nvPr userDrawn="1"/>
        </p:nvSpPr>
        <p:spPr bwMode="auto">
          <a:xfrm>
            <a:off x="393750" y="109585"/>
            <a:ext cx="7160559" cy="674905"/>
          </a:xfrm>
          <a:prstGeom prst="roundRect">
            <a:avLst>
              <a:gd name="adj" fmla="val 21774"/>
            </a:avLst>
          </a:prstGeom>
          <a:solidFill>
            <a:srgbClr val="87BECB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6BED5C-A7B8-EAA7-9807-5852C8A0F600}"/>
              </a:ext>
            </a:extLst>
          </p:cNvPr>
          <p:cNvSpPr/>
          <p:nvPr userDrawn="1"/>
        </p:nvSpPr>
        <p:spPr bwMode="auto">
          <a:xfrm>
            <a:off x="393750" y="-17604"/>
            <a:ext cx="7160559" cy="590949"/>
          </a:xfrm>
          <a:prstGeom prst="rect">
            <a:avLst/>
          </a:prstGeom>
          <a:solidFill>
            <a:srgbClr val="87BECB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27" name="텍스트 개체 틀 11">
            <a:extLst>
              <a:ext uri="{FF2B5EF4-FFF2-40B4-BE49-F238E27FC236}">
                <a16:creationId xmlns:a16="http://schemas.microsoft.com/office/drawing/2014/main" id="{79A1330C-48F8-A1EB-FB7B-2B2E8EF423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5" y="203923"/>
            <a:ext cx="8126264" cy="538353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3200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itchFamily="50" charset="-127"/>
                <a:ea typeface="나눔스퀘어 ExtraBold" pitchFamily="50" charset="-127"/>
                <a:cs typeface="+mn-cs"/>
              </a:defRPr>
            </a:lvl1pPr>
          </a:lstStyle>
          <a:p>
            <a:pPr marL="228450" lvl="0" indent="-228450" algn="l" defTabSz="91380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슬라이드 명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AAC33EC-E670-FC14-8096-A54784B52886}"/>
              </a:ext>
            </a:extLst>
          </p:cNvPr>
          <p:cNvSpPr/>
          <p:nvPr userDrawn="1"/>
        </p:nvSpPr>
        <p:spPr bwMode="auto">
          <a:xfrm>
            <a:off x="7613093" y="109585"/>
            <a:ext cx="4578908" cy="674905"/>
          </a:xfrm>
          <a:prstGeom prst="roundRect">
            <a:avLst>
              <a:gd name="adj" fmla="val 21774"/>
            </a:avLst>
          </a:prstGeom>
          <a:solidFill>
            <a:srgbClr val="AECF4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E00435-ABA0-4D2C-BC22-9B0C66ADFF67}"/>
              </a:ext>
            </a:extLst>
          </p:cNvPr>
          <p:cNvSpPr/>
          <p:nvPr userDrawn="1"/>
        </p:nvSpPr>
        <p:spPr bwMode="auto">
          <a:xfrm>
            <a:off x="7613093" y="-17604"/>
            <a:ext cx="4578908" cy="590949"/>
          </a:xfrm>
          <a:prstGeom prst="rect">
            <a:avLst/>
          </a:prstGeom>
          <a:solidFill>
            <a:srgbClr val="AECF4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30" name="내용 개체 틀 532">
            <a:extLst>
              <a:ext uri="{FF2B5EF4-FFF2-40B4-BE49-F238E27FC236}">
                <a16:creationId xmlns:a16="http://schemas.microsoft.com/office/drawing/2014/main" id="{F708B023-4437-D649-9635-50E9216C57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967" y="836615"/>
            <a:ext cx="8122748" cy="445535"/>
          </a:xfrm>
          <a:prstGeom prst="rect">
            <a:avLst/>
          </a:prstGeom>
        </p:spPr>
        <p:txBody>
          <a:bodyPr>
            <a:noAutofit/>
          </a:bodyPr>
          <a:lstStyle>
            <a:lvl1pPr marL="381000" indent="-381000" latinLnBrk="0">
              <a:lnSpc>
                <a:spcPct val="110000"/>
              </a:lnSpc>
              <a:spcBef>
                <a:spcPts val="1200"/>
              </a:spcBef>
              <a:buSzPct val="150000"/>
              <a:buFontTx/>
              <a:buBlip>
                <a:blip r:embed="rId2"/>
              </a:buBlip>
              <a:defRPr sz="2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788987" indent="-342900" defTabSz="219075" latinLnBrk="0">
              <a:lnSpc>
                <a:spcPct val="110000"/>
              </a:lnSpc>
              <a:spcBef>
                <a:spcPts val="800"/>
              </a:spcBef>
              <a:buSzPct val="145000"/>
              <a:buFontTx/>
              <a:buBlip>
                <a:blip r:embed="rId3"/>
              </a:buBlip>
              <a:defRPr sz="2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defRPr>
            </a:lvl2pPr>
            <a:lvl3pPr marL="1052513" indent="-207963" latinLnBrk="0">
              <a:lnSpc>
                <a:spcPct val="110000"/>
              </a:lnSpc>
              <a:spcBef>
                <a:spcPts val="8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tabLst/>
              <a:defRPr sz="2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defRPr>
            </a:lvl3pPr>
            <a:lvl4pPr marL="1285875" indent="-193675" latinLnBrk="0">
              <a:lnSpc>
                <a:spcPct val="110000"/>
              </a:lnSpc>
              <a:spcBef>
                <a:spcPts val="800"/>
              </a:spcBef>
              <a:buClr>
                <a:srgbClr val="1599A7"/>
              </a:buClr>
              <a:buSzPct val="90000"/>
              <a:buFontTx/>
              <a:buBlip>
                <a:blip r:embed="rId4"/>
              </a:buBlip>
              <a:defRPr sz="2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defRPr>
            </a:lvl4pPr>
            <a:lvl5pPr marL="1552575" indent="-225425" latinLnBrk="0">
              <a:lnSpc>
                <a:spcPct val="110000"/>
              </a:lnSpc>
              <a:spcBef>
                <a:spcPts val="800"/>
              </a:spcBef>
              <a:buClr>
                <a:schemeClr val="tx1"/>
              </a:buClr>
              <a:buSzPct val="120000"/>
              <a:buFont typeface="Arial" pitchFamily="34" charset="0"/>
              <a:buChar char="•"/>
              <a:tabLst>
                <a:tab pos="1392238" algn="l"/>
              </a:tabLst>
              <a:defRPr sz="2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defRPr>
            </a:lvl5pPr>
          </a:lstStyle>
          <a:p>
            <a:pPr lvl="0"/>
            <a:r>
              <a:rPr lang="ko-KR" altLang="en-US" dirty="0"/>
              <a:t>첫째 수준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</a:t>
            </a:r>
            <a:r>
              <a:rPr lang="ko-KR" altLang="en-US" dirty="0" err="1"/>
              <a:t>수준ㅋㅍ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</a:t>
            </a:r>
            <a:r>
              <a:rPr lang="ko-KR" altLang="en-US" dirty="0" err="1"/>
              <a:t>수준ㅍ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타원 8"/>
          <p:cNvSpPr/>
          <p:nvPr userDrawn="1"/>
        </p:nvSpPr>
        <p:spPr>
          <a:xfrm>
            <a:off x="219105" y="6458445"/>
            <a:ext cx="55663" cy="55655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95185D9E-A740-762E-D352-20548DC81BD1}"/>
              </a:ext>
            </a:extLst>
          </p:cNvPr>
          <p:cNvSpPr txBox="1">
            <a:spLocks/>
          </p:cNvSpPr>
          <p:nvPr userDrawn="1"/>
        </p:nvSpPr>
        <p:spPr>
          <a:xfrm>
            <a:off x="838310" y="365127"/>
            <a:ext cx="10515381" cy="1325563"/>
          </a:xfrm>
          <a:prstGeom prst="rect">
            <a:avLst/>
          </a:prstGeom>
        </p:spPr>
        <p:txBody>
          <a:bodyPr/>
          <a:lstStyle>
            <a:lvl1pPr algn="l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39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397"/>
              <a:t>마스터 제목 스타일 편집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9A0F95-6DEA-B8F6-8C9E-D66D14EF5041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8261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AFBC9DB-B573-F409-B3F2-585B8A4431D1}"/>
              </a:ext>
            </a:extLst>
          </p:cNvPr>
          <p:cNvSpPr/>
          <p:nvPr userDrawn="1"/>
        </p:nvSpPr>
        <p:spPr bwMode="auto">
          <a:xfrm>
            <a:off x="10066063" y="1427550"/>
            <a:ext cx="2127525" cy="5430451"/>
          </a:xfrm>
          <a:custGeom>
            <a:avLst/>
            <a:gdLst>
              <a:gd name="connsiteX0" fmla="*/ 2127249 w 2127249"/>
              <a:gd name="connsiteY0" fmla="*/ 0 h 5430451"/>
              <a:gd name="connsiteX1" fmla="*/ 2127249 w 2127249"/>
              <a:gd name="connsiteY1" fmla="*/ 5430451 h 5430451"/>
              <a:gd name="connsiteX2" fmla="*/ 270650 w 2127249"/>
              <a:gd name="connsiteY2" fmla="*/ 5430451 h 5430451"/>
              <a:gd name="connsiteX3" fmla="*/ 210421 w 2127249"/>
              <a:gd name="connsiteY3" fmla="*/ 5330817 h 5430451"/>
              <a:gd name="connsiteX4" fmla="*/ 198097 w 2127249"/>
              <a:gd name="connsiteY4" fmla="*/ 3695204 h 5430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249" h="5430451">
                <a:moveTo>
                  <a:pt x="2127249" y="0"/>
                </a:moveTo>
                <a:lnTo>
                  <a:pt x="2127249" y="5430451"/>
                </a:lnTo>
                <a:lnTo>
                  <a:pt x="270650" y="5430451"/>
                </a:lnTo>
                <a:lnTo>
                  <a:pt x="210421" y="5330817"/>
                </a:lnTo>
                <a:cubicBezTo>
                  <a:pt x="-55414" y="4838958"/>
                  <a:pt x="-80128" y="4228130"/>
                  <a:pt x="198097" y="3695204"/>
                </a:cubicBezTo>
                <a:close/>
              </a:path>
            </a:pathLst>
          </a:custGeom>
          <a:gradFill flip="none" rotWithShape="1">
            <a:gsLst>
              <a:gs pos="0">
                <a:srgbClr val="B7D646"/>
              </a:gs>
              <a:gs pos="83000">
                <a:srgbClr val="72A020"/>
              </a:gs>
            </a:gsLst>
            <a:lin ang="16200000" scaled="1"/>
            <a:tileRect/>
          </a:gradFill>
          <a:ln>
            <a:noFill/>
          </a:ln>
          <a:effectLst>
            <a:outerShdw blurRad="254000" dist="38100" dir="5400000" algn="t" rotWithShape="0">
              <a:prstClr val="black">
                <a:alpha val="18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8F9CC7B-8D7B-640B-84C7-6F21027D2E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45" y="117527"/>
            <a:ext cx="6458792" cy="6858002"/>
          </a:xfrm>
          <a:prstGeom prst="rect">
            <a:avLst/>
          </a:prstGeom>
          <a:effectLst>
            <a:outerShdw blurRad="254000" dist="38100" dir="5400000" algn="t" rotWithShape="0">
              <a:prstClr val="black">
                <a:alpha val="18000"/>
              </a:prstClr>
            </a:outerShdw>
          </a:effectLst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572423A2-ACAA-9C88-C4B9-4392F360091E}"/>
              </a:ext>
            </a:extLst>
          </p:cNvPr>
          <p:cNvGrpSpPr/>
          <p:nvPr userDrawn="1"/>
        </p:nvGrpSpPr>
        <p:grpSpPr>
          <a:xfrm>
            <a:off x="539567" y="1122418"/>
            <a:ext cx="7378128" cy="3340977"/>
            <a:chOff x="539496" y="1122416"/>
            <a:chExt cx="7377167" cy="3340977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B21630C-318A-E66E-C22E-7631632785C1}"/>
                </a:ext>
              </a:extLst>
            </p:cNvPr>
            <p:cNvSpPr/>
            <p:nvPr userDrawn="1"/>
          </p:nvSpPr>
          <p:spPr>
            <a:xfrm>
              <a:off x="539496" y="1808216"/>
              <a:ext cx="7377167" cy="265517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5804200-EA5E-4C21-0454-DD3C2D79B65E}"/>
                </a:ext>
              </a:extLst>
            </p:cNvPr>
            <p:cNvSpPr/>
            <p:nvPr userDrawn="1"/>
          </p:nvSpPr>
          <p:spPr>
            <a:xfrm>
              <a:off x="539496" y="1122416"/>
              <a:ext cx="7377167" cy="265517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059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타원 8"/>
          <p:cNvSpPr/>
          <p:nvPr userDrawn="1"/>
        </p:nvSpPr>
        <p:spPr>
          <a:xfrm>
            <a:off x="219105" y="6458445"/>
            <a:ext cx="55663" cy="55655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E48B699-424B-793B-C0DD-B6CA0FEC46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98000" y="-396399"/>
            <a:ext cx="2768600" cy="358775"/>
          </a:xfrm>
          <a:prstGeom prst="rect">
            <a:avLst/>
          </a:prstGeom>
        </p:spPr>
        <p:txBody>
          <a:bodyPr anchor="ctr"/>
          <a:lstStyle>
            <a:lvl1pPr marL="0" algn="r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400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 err="1"/>
              <a:t>페이지번호</a:t>
            </a:r>
            <a:endParaRPr lang="ko-KR" altLang="en-US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95185D9E-A740-762E-D352-20548DC81BD1}"/>
              </a:ext>
            </a:extLst>
          </p:cNvPr>
          <p:cNvSpPr txBox="1">
            <a:spLocks/>
          </p:cNvSpPr>
          <p:nvPr userDrawn="1"/>
        </p:nvSpPr>
        <p:spPr>
          <a:xfrm>
            <a:off x="838310" y="365127"/>
            <a:ext cx="10515381" cy="1325563"/>
          </a:xfrm>
          <a:prstGeom prst="rect">
            <a:avLst/>
          </a:prstGeom>
        </p:spPr>
        <p:txBody>
          <a:bodyPr/>
          <a:lstStyle>
            <a:lvl1pPr algn="l" defTabSz="91380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39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397"/>
              <a:t>마스터 제목 스타일 편집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9A0F95-6DEA-B8F6-8C9E-D66D14EF5041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8261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AFBC9DB-B573-F409-B3F2-585B8A4431D1}"/>
              </a:ext>
            </a:extLst>
          </p:cNvPr>
          <p:cNvSpPr/>
          <p:nvPr userDrawn="1"/>
        </p:nvSpPr>
        <p:spPr bwMode="auto">
          <a:xfrm>
            <a:off x="10957599" y="1427550"/>
            <a:ext cx="1235989" cy="5430451"/>
          </a:xfrm>
          <a:custGeom>
            <a:avLst/>
            <a:gdLst>
              <a:gd name="connsiteX0" fmla="*/ 2127249 w 2127249"/>
              <a:gd name="connsiteY0" fmla="*/ 0 h 5430451"/>
              <a:gd name="connsiteX1" fmla="*/ 2127249 w 2127249"/>
              <a:gd name="connsiteY1" fmla="*/ 5430451 h 5430451"/>
              <a:gd name="connsiteX2" fmla="*/ 270650 w 2127249"/>
              <a:gd name="connsiteY2" fmla="*/ 5430451 h 5430451"/>
              <a:gd name="connsiteX3" fmla="*/ 210421 w 2127249"/>
              <a:gd name="connsiteY3" fmla="*/ 5330817 h 5430451"/>
              <a:gd name="connsiteX4" fmla="*/ 198097 w 2127249"/>
              <a:gd name="connsiteY4" fmla="*/ 3695204 h 5430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249" h="5430451">
                <a:moveTo>
                  <a:pt x="2127249" y="0"/>
                </a:moveTo>
                <a:lnTo>
                  <a:pt x="2127249" y="5430451"/>
                </a:lnTo>
                <a:lnTo>
                  <a:pt x="270650" y="5430451"/>
                </a:lnTo>
                <a:lnTo>
                  <a:pt x="210421" y="5330817"/>
                </a:lnTo>
                <a:cubicBezTo>
                  <a:pt x="-55414" y="4838958"/>
                  <a:pt x="-80128" y="4228130"/>
                  <a:pt x="198097" y="3695204"/>
                </a:cubicBezTo>
                <a:close/>
              </a:path>
            </a:pathLst>
          </a:custGeom>
          <a:gradFill flip="none" rotWithShape="1">
            <a:gsLst>
              <a:gs pos="0">
                <a:srgbClr val="B7D646"/>
              </a:gs>
              <a:gs pos="83000">
                <a:srgbClr val="72A020"/>
              </a:gs>
            </a:gsLst>
            <a:lin ang="16200000" scaled="1"/>
            <a:tileRect/>
          </a:gradFill>
          <a:ln>
            <a:noFill/>
          </a:ln>
          <a:effectLst>
            <a:outerShdw blurRad="254000" dist="38100" dir="5400000" algn="t" rotWithShape="0">
              <a:prstClr val="black">
                <a:alpha val="18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8F9CC7B-8D7B-640B-84C7-6F21027D2E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007" y="117527"/>
            <a:ext cx="3752243" cy="6858002"/>
          </a:xfrm>
          <a:prstGeom prst="rect">
            <a:avLst/>
          </a:prstGeom>
          <a:effectLst>
            <a:outerShdw blurRad="254000" dist="38100" dir="5400000" algn="t" rotWithShape="0">
              <a:prstClr val="black">
                <a:alpha val="18000"/>
              </a:prstClr>
            </a:outerShdw>
          </a:effectLst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572423A2-ACAA-9C88-C4B9-4392F360091E}"/>
              </a:ext>
            </a:extLst>
          </p:cNvPr>
          <p:cNvGrpSpPr/>
          <p:nvPr userDrawn="1"/>
        </p:nvGrpSpPr>
        <p:grpSpPr>
          <a:xfrm>
            <a:off x="539567" y="1122418"/>
            <a:ext cx="7378128" cy="3340977"/>
            <a:chOff x="539496" y="1122416"/>
            <a:chExt cx="7377167" cy="3340977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B21630C-318A-E66E-C22E-7631632785C1}"/>
                </a:ext>
              </a:extLst>
            </p:cNvPr>
            <p:cNvSpPr/>
            <p:nvPr userDrawn="1"/>
          </p:nvSpPr>
          <p:spPr>
            <a:xfrm>
              <a:off x="539496" y="1808216"/>
              <a:ext cx="7377167" cy="265517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5804200-EA5E-4C21-0454-DD3C2D79B65E}"/>
                </a:ext>
              </a:extLst>
            </p:cNvPr>
            <p:cNvSpPr/>
            <p:nvPr userDrawn="1"/>
          </p:nvSpPr>
          <p:spPr>
            <a:xfrm>
              <a:off x="539496" y="1122416"/>
              <a:ext cx="7377167" cy="265517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2338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kaggle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scu-5th-ai-competition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cji6T9vCYhBhCGQYFT9lbXJ_MCT1K-6k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gg/dR4xjvkt9U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cji6T9vCYhBhCGQYFT9lbXJ_MCT1K-6k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43DCB994-B806-4907-7F85-1FA4AAA7ACCE}"/>
              </a:ext>
            </a:extLst>
          </p:cNvPr>
          <p:cNvSpPr txBox="1">
            <a:spLocks/>
          </p:cNvSpPr>
          <p:nvPr/>
        </p:nvSpPr>
        <p:spPr>
          <a:xfrm>
            <a:off x="335360" y="101837"/>
            <a:ext cx="11449272" cy="168167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3801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5400" kern="12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  <a:lvl2pPr marL="6853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2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1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0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9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8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7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6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solidFill>
                  <a:schemeClr val="tx1"/>
                </a:solidFill>
              </a:rPr>
              <a:t>[</a:t>
            </a:r>
            <a:r>
              <a:rPr lang="ko-KR" altLang="en-US" sz="3600" dirty="0">
                <a:solidFill>
                  <a:schemeClr val="tx1"/>
                </a:solidFill>
              </a:rPr>
              <a:t>제</a:t>
            </a:r>
            <a:r>
              <a:rPr lang="en-US" altLang="ko-KR" sz="3600" dirty="0">
                <a:solidFill>
                  <a:schemeClr val="tx1"/>
                </a:solidFill>
              </a:rPr>
              <a:t>5</a:t>
            </a:r>
            <a:r>
              <a:rPr lang="ko-KR" altLang="en-US" sz="3600" dirty="0">
                <a:solidFill>
                  <a:schemeClr val="tx1"/>
                </a:solidFill>
              </a:rPr>
              <a:t>회</a:t>
            </a:r>
            <a:r>
              <a:rPr lang="en-US" altLang="ko-KR" sz="3600" dirty="0">
                <a:solidFill>
                  <a:schemeClr val="tx1"/>
                </a:solidFill>
              </a:rPr>
              <a:t>]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인공지능 모델링 경진대회 설명회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1667" y="5373216"/>
            <a:ext cx="1872629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주최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서울사이버대학교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주관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빅데이터</a:t>
            </a:r>
            <a:r>
              <a:rPr lang="en-US" altLang="ko-KR" sz="1200" b="1" dirty="0"/>
              <a:t>·AI</a:t>
            </a:r>
            <a:r>
              <a:rPr lang="ko-KR" altLang="en-US" sz="1200" b="1" dirty="0"/>
              <a:t>센터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문의 </a:t>
            </a:r>
            <a:r>
              <a:rPr lang="en-US" altLang="ko-KR" sz="1200" b="1" dirty="0"/>
              <a:t>: 02-944-5653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A65A44-FAE7-482B-8062-14ED0576C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420888"/>
            <a:ext cx="5472608" cy="2448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913261-9B86-4D84-A45D-5E05DBD5FE94}"/>
              </a:ext>
            </a:extLst>
          </p:cNvPr>
          <p:cNvSpPr txBox="1"/>
          <p:nvPr/>
        </p:nvSpPr>
        <p:spPr>
          <a:xfrm>
            <a:off x="1919536" y="4769737"/>
            <a:ext cx="34403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i="1" dirty="0">
                <a:solidFill>
                  <a:schemeClr val="bg1">
                    <a:lumMod val="65000"/>
                  </a:schemeClr>
                </a:solidFill>
              </a:rPr>
              <a:t>출처 </a:t>
            </a:r>
            <a:r>
              <a:rPr lang="en-US" altLang="ko-KR" sz="700" i="1" dirty="0">
                <a:solidFill>
                  <a:schemeClr val="bg1">
                    <a:lumMod val="65000"/>
                  </a:schemeClr>
                </a:solidFill>
              </a:rPr>
              <a:t>: https://biz.newdaily.co.kr/site/data/html/2020/01/20/2020012000138.html</a:t>
            </a:r>
            <a:endParaRPr lang="ko-KR" altLang="en-US" sz="7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414009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0B3609-D70D-4248-B1E1-B45C841D6F42}"/>
              </a:ext>
            </a:extLst>
          </p:cNvPr>
          <p:cNvGrpSpPr/>
          <p:nvPr/>
        </p:nvGrpSpPr>
        <p:grpSpPr>
          <a:xfrm>
            <a:off x="119336" y="124672"/>
            <a:ext cx="675955" cy="876301"/>
            <a:chOff x="1558441" y="703383"/>
            <a:chExt cx="3752344" cy="3648847"/>
          </a:xfrm>
          <a:solidFill>
            <a:srgbClr val="72A020"/>
          </a:solidFill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AB54423-7666-49BA-84D1-28CB391E87E8}"/>
                </a:ext>
              </a:extLst>
            </p:cNvPr>
            <p:cNvSpPr/>
            <p:nvPr/>
          </p:nvSpPr>
          <p:spPr bwMode="auto">
            <a:xfrm>
              <a:off x="156029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B7D646"/>
                </a:gs>
                <a:gs pos="83000">
                  <a:srgbClr val="72A020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12F3B38-C866-461B-BE8A-C07612BAAD26}"/>
                </a:ext>
              </a:extLst>
            </p:cNvPr>
            <p:cNvSpPr/>
            <p:nvPr/>
          </p:nvSpPr>
          <p:spPr bwMode="auto">
            <a:xfrm>
              <a:off x="300152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2A020"/>
                </a:gs>
                <a:gs pos="100000">
                  <a:srgbClr val="3D6F1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031C3145-35B7-4FEF-B6F7-E101D8B07577}"/>
                </a:ext>
              </a:extLst>
            </p:cNvPr>
            <p:cNvSpPr/>
            <p:nvPr/>
          </p:nvSpPr>
          <p:spPr bwMode="auto">
            <a:xfrm>
              <a:off x="1558441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B7D646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FF0A8B2A-A87B-4443-814D-24B7692580F9}"/>
                </a:ext>
              </a:extLst>
            </p:cNvPr>
            <p:cNvSpPr/>
            <p:nvPr/>
          </p:nvSpPr>
          <p:spPr bwMode="auto">
            <a:xfrm>
              <a:off x="4447185" y="704850"/>
              <a:ext cx="863600" cy="36449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87BECB"/>
                </a:gs>
                <a:gs pos="83000">
                  <a:srgbClr val="87BECB">
                    <a:lumMod val="7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0EFE9E22-82DF-4866-97F5-F21EF314442B}"/>
                </a:ext>
              </a:extLst>
            </p:cNvPr>
            <p:cNvSpPr/>
            <p:nvPr/>
          </p:nvSpPr>
          <p:spPr bwMode="auto">
            <a:xfrm>
              <a:off x="3001604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87BECB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</p:grp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43DCB994-B806-4907-7F85-1FA4AAA7ACCE}"/>
              </a:ext>
            </a:extLst>
          </p:cNvPr>
          <p:cNvSpPr txBox="1">
            <a:spLocks/>
          </p:cNvSpPr>
          <p:nvPr/>
        </p:nvSpPr>
        <p:spPr>
          <a:xfrm>
            <a:off x="983048" y="165701"/>
            <a:ext cx="10441543" cy="74219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3801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5400" kern="12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  <a:lvl2pPr marL="6853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2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1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0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9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8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7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6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i="1" dirty="0">
                <a:solidFill>
                  <a:schemeClr val="tx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 동안의 대회에서는 </a:t>
            </a:r>
            <a:r>
              <a:rPr lang="en-US" altLang="ko-KR" sz="4000" i="1" dirty="0">
                <a:solidFill>
                  <a:schemeClr val="tx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….</a:t>
            </a:r>
            <a:endParaRPr lang="ko-KR" altLang="en-US" sz="4000" i="1" dirty="0">
              <a:solidFill>
                <a:schemeClr val="tx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67A3F4-C3CF-4914-B315-C157E00E6C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3006">
            <a:off x="1530188" y="1285812"/>
            <a:ext cx="2232641" cy="14882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44B20C-641A-4C94-966A-604A03FB96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07" y="3933056"/>
            <a:ext cx="2308252" cy="15388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3111F1-60AB-4B27-83CF-D311CC07B4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5040">
            <a:off x="2003984" y="3299080"/>
            <a:ext cx="2353366" cy="15689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F5E47B-365F-4ED1-8341-494FF2C84F4F}"/>
              </a:ext>
            </a:extLst>
          </p:cNvPr>
          <p:cNvSpPr txBox="1"/>
          <p:nvPr/>
        </p:nvSpPr>
        <p:spPr>
          <a:xfrm>
            <a:off x="5159896" y="1424433"/>
            <a:ext cx="6635150" cy="4189865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갑상선 질환 예측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고객대출등급 예측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당뇨병 예측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마케팅 캠페인 고객의 수락 여부 예측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사과 병해충 이미지 활용 해충 분류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서울시 실거래가 예측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E9F142-32C8-4C04-90DF-49538105C5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95604">
            <a:off x="323054" y="1980662"/>
            <a:ext cx="2129263" cy="141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D5C59773-31E8-0D76-CCE4-77020508B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12" y="3228975"/>
            <a:ext cx="878490" cy="107632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0B3609-D70D-4248-B1E1-B45C841D6F42}"/>
              </a:ext>
            </a:extLst>
          </p:cNvPr>
          <p:cNvGrpSpPr/>
          <p:nvPr/>
        </p:nvGrpSpPr>
        <p:grpSpPr>
          <a:xfrm>
            <a:off x="119336" y="124672"/>
            <a:ext cx="675955" cy="876301"/>
            <a:chOff x="1558441" y="703383"/>
            <a:chExt cx="3752344" cy="3648847"/>
          </a:xfrm>
          <a:solidFill>
            <a:srgbClr val="72A020"/>
          </a:solidFill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AB54423-7666-49BA-84D1-28CB391E87E8}"/>
                </a:ext>
              </a:extLst>
            </p:cNvPr>
            <p:cNvSpPr/>
            <p:nvPr/>
          </p:nvSpPr>
          <p:spPr bwMode="auto">
            <a:xfrm>
              <a:off x="156029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B7D646"/>
                </a:gs>
                <a:gs pos="83000">
                  <a:srgbClr val="72A020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12F3B38-C866-461B-BE8A-C07612BAAD26}"/>
                </a:ext>
              </a:extLst>
            </p:cNvPr>
            <p:cNvSpPr/>
            <p:nvPr/>
          </p:nvSpPr>
          <p:spPr bwMode="auto">
            <a:xfrm>
              <a:off x="3001520" y="704850"/>
              <a:ext cx="863600" cy="36449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2A020"/>
                </a:gs>
                <a:gs pos="100000">
                  <a:srgbClr val="3D6F1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031C3145-35B7-4FEF-B6F7-E101D8B07577}"/>
                </a:ext>
              </a:extLst>
            </p:cNvPr>
            <p:cNvSpPr/>
            <p:nvPr/>
          </p:nvSpPr>
          <p:spPr bwMode="auto">
            <a:xfrm>
              <a:off x="1558441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B7D646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FF0A8B2A-A87B-4443-814D-24B7692580F9}"/>
                </a:ext>
              </a:extLst>
            </p:cNvPr>
            <p:cNvSpPr/>
            <p:nvPr/>
          </p:nvSpPr>
          <p:spPr bwMode="auto">
            <a:xfrm>
              <a:off x="4447185" y="704850"/>
              <a:ext cx="863600" cy="36449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87BECB"/>
                </a:gs>
                <a:gs pos="83000">
                  <a:srgbClr val="87BECB">
                    <a:lumMod val="7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0EFE9E22-82DF-4866-97F5-F21EF314442B}"/>
                </a:ext>
              </a:extLst>
            </p:cNvPr>
            <p:cNvSpPr/>
            <p:nvPr/>
          </p:nvSpPr>
          <p:spPr bwMode="auto">
            <a:xfrm>
              <a:off x="3001604" y="703383"/>
              <a:ext cx="2308059" cy="3648847"/>
            </a:xfrm>
            <a:custGeom>
              <a:avLst/>
              <a:gdLst>
                <a:gd name="connsiteX0" fmla="*/ 1910125 w 2308059"/>
                <a:gd name="connsiteY0" fmla="*/ 1315 h 3648847"/>
                <a:gd name="connsiteX1" fmla="*/ 2074953 w 2308059"/>
                <a:gd name="connsiteY1" fmla="*/ 48567 h 3648847"/>
                <a:gd name="connsiteX2" fmla="*/ 2259493 w 2308059"/>
                <a:gd name="connsiteY2" fmla="*/ 630673 h 3648847"/>
                <a:gd name="connsiteX3" fmla="*/ 815213 w 2308059"/>
                <a:gd name="connsiteY3" fmla="*/ 3415741 h 3648847"/>
                <a:gd name="connsiteX4" fmla="*/ 233107 w 2308059"/>
                <a:gd name="connsiteY4" fmla="*/ 3600280 h 3648847"/>
                <a:gd name="connsiteX5" fmla="*/ 48568 w 2308059"/>
                <a:gd name="connsiteY5" fmla="*/ 3018174 h 3648847"/>
                <a:gd name="connsiteX6" fmla="*/ 1492847 w 2308059"/>
                <a:gd name="connsiteY6" fmla="*/ 233106 h 3648847"/>
                <a:gd name="connsiteX7" fmla="*/ 1910125 w 2308059"/>
                <a:gd name="connsiteY7" fmla="*/ 1315 h 3648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8059" h="3648847">
                  <a:moveTo>
                    <a:pt x="1910125" y="1315"/>
                  </a:moveTo>
                  <a:cubicBezTo>
                    <a:pt x="1966044" y="5700"/>
                    <a:pt x="2022027" y="21121"/>
                    <a:pt x="2074953" y="48567"/>
                  </a:cubicBezTo>
                  <a:cubicBezTo>
                    <a:pt x="2286657" y="158352"/>
                    <a:pt x="2369278" y="418969"/>
                    <a:pt x="2259493" y="630673"/>
                  </a:cubicBezTo>
                  <a:lnTo>
                    <a:pt x="815213" y="3415741"/>
                  </a:lnTo>
                  <a:cubicBezTo>
                    <a:pt x="705428" y="3627445"/>
                    <a:pt x="444811" y="3710066"/>
                    <a:pt x="233107" y="3600280"/>
                  </a:cubicBezTo>
                  <a:cubicBezTo>
                    <a:pt x="21403" y="3490495"/>
                    <a:pt x="-61218" y="3229878"/>
                    <a:pt x="48568" y="3018174"/>
                  </a:cubicBezTo>
                  <a:lnTo>
                    <a:pt x="1492847" y="233106"/>
                  </a:lnTo>
                  <a:cubicBezTo>
                    <a:pt x="1575186" y="74329"/>
                    <a:pt x="1742368" y="-11840"/>
                    <a:pt x="1910125" y="1315"/>
                  </a:cubicBezTo>
                  <a:close/>
                </a:path>
              </a:pathLst>
            </a:custGeom>
            <a:solidFill>
              <a:srgbClr val="87BECB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ko-KR" altLang="en-US" kern="0">
                <a:solidFill>
                  <a:prstClr val="black"/>
                </a:solidFill>
                <a:latin typeface="Montserrat"/>
              </a:endParaRPr>
            </a:p>
          </p:txBody>
        </p:sp>
      </p:grp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43DCB994-B806-4907-7F85-1FA4AAA7ACCE}"/>
              </a:ext>
            </a:extLst>
          </p:cNvPr>
          <p:cNvSpPr txBox="1">
            <a:spLocks/>
          </p:cNvSpPr>
          <p:nvPr/>
        </p:nvSpPr>
        <p:spPr>
          <a:xfrm>
            <a:off x="983048" y="165701"/>
            <a:ext cx="10441543" cy="74219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3801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5400" kern="12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  <a:lvl2pPr marL="6853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2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1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0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9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851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7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652" indent="-228450" algn="l" defTabSz="913801" rtl="0" eaLnBrk="1" latinLnBrk="1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dirty="0">
                <a:solidFill>
                  <a:schemeClr val="tx1"/>
                </a:solidFill>
              </a:rPr>
              <a:t>목 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28B4362-BECC-D112-7EE9-D6C00BA74D0A}"/>
              </a:ext>
            </a:extLst>
          </p:cNvPr>
          <p:cNvGrpSpPr/>
          <p:nvPr/>
        </p:nvGrpSpPr>
        <p:grpSpPr>
          <a:xfrm>
            <a:off x="534866" y="1744808"/>
            <a:ext cx="7616758" cy="677651"/>
            <a:chOff x="866775" y="3305523"/>
            <a:chExt cx="8081805" cy="767954"/>
          </a:xfrm>
        </p:grpSpPr>
        <p:sp>
          <p:nvSpPr>
            <p:cNvPr id="13" name="모서리가 둥근 직사각형 17">
              <a:extLst>
                <a:ext uri="{FF2B5EF4-FFF2-40B4-BE49-F238E27FC236}">
                  <a16:creationId xmlns:a16="http://schemas.microsoft.com/office/drawing/2014/main" id="{33052A83-CD5B-F525-37AE-B17DFA7C5D2A}"/>
                </a:ext>
              </a:extLst>
            </p:cNvPr>
            <p:cNvSpPr/>
            <p:nvPr/>
          </p:nvSpPr>
          <p:spPr>
            <a:xfrm>
              <a:off x="1005453" y="3431577"/>
              <a:ext cx="7943127" cy="6419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7BE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8">
              <a:extLst>
                <a:ext uri="{FF2B5EF4-FFF2-40B4-BE49-F238E27FC236}">
                  <a16:creationId xmlns:a16="http://schemas.microsoft.com/office/drawing/2014/main" id="{68ED9B54-B847-C225-0205-46FD464731FF}"/>
                </a:ext>
              </a:extLst>
            </p:cNvPr>
            <p:cNvSpPr/>
            <p:nvPr/>
          </p:nvSpPr>
          <p:spPr>
            <a:xfrm>
              <a:off x="866775" y="3305523"/>
              <a:ext cx="556907" cy="556907"/>
            </a:xfrm>
            <a:prstGeom prst="rect">
              <a:avLst/>
            </a:prstGeom>
            <a:solidFill>
              <a:srgbClr val="87B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2">
              <a:extLst>
                <a:ext uri="{FF2B5EF4-FFF2-40B4-BE49-F238E27FC236}">
                  <a16:creationId xmlns:a16="http://schemas.microsoft.com/office/drawing/2014/main" id="{7E5406A8-0871-FCBC-6770-41A7A37D5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256" y="3386765"/>
              <a:ext cx="527945" cy="3944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latinLnBrk="0">
                <a:lnSpc>
                  <a:spcPct val="80000"/>
                </a:lnSpc>
                <a:spcAft>
                  <a:spcPts val="200"/>
                </a:spcAft>
                <a:defRPr/>
              </a:pPr>
              <a:r>
                <a:rPr lang="en-US" altLang="ko" sz="2000">
                  <a:solidFill>
                    <a:schemeClr val="bg1"/>
                  </a:solidFill>
                  <a:latin typeface="나눔스퀘어 Bold" pitchFamily="50" charset="-127"/>
                  <a:ea typeface="나눔스퀘어 Bold" pitchFamily="50" charset="-127"/>
                </a:rPr>
                <a:t>01</a:t>
              </a:r>
              <a:endParaRPr lang="en-US" altLang="ko-KR" sz="2000" dirty="0">
                <a:solidFill>
                  <a:schemeClr val="bg1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69D42FB-749A-AF25-C953-68B2D04C85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48664" y="3508375"/>
              <a:ext cx="7147091" cy="4883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10000"/>
                </a:lnSpc>
                <a:spcBef>
                  <a:spcPts val="800"/>
                </a:spcBef>
              </a:pPr>
              <a:r>
                <a:rPr lang="en-US" altLang="ko-KR"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Bold" pitchFamily="50" charset="-127"/>
                  <a:ea typeface="나눔스퀘어 Bold" pitchFamily="50" charset="-127"/>
                </a:rPr>
                <a:t>Kaggle </a:t>
              </a:r>
              <a:r>
                <a:rPr lang="ko-KR" altLang="en-US" sz="20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Bold" pitchFamily="50" charset="-127"/>
                  <a:ea typeface="나눔스퀘어 Bold" pitchFamily="50" charset="-127"/>
                </a:rPr>
                <a:t>소개</a:t>
              </a:r>
              <a:endPara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3B2D236-EA18-9372-407F-8C4D74593E44}"/>
              </a:ext>
            </a:extLst>
          </p:cNvPr>
          <p:cNvGrpSpPr/>
          <p:nvPr/>
        </p:nvGrpSpPr>
        <p:grpSpPr>
          <a:xfrm>
            <a:off x="534866" y="2690628"/>
            <a:ext cx="7616758" cy="677651"/>
            <a:chOff x="866775" y="3305523"/>
            <a:chExt cx="8081805" cy="767954"/>
          </a:xfrm>
        </p:grpSpPr>
        <p:sp>
          <p:nvSpPr>
            <p:cNvPr id="24" name="모서리가 둥근 직사각형 17">
              <a:extLst>
                <a:ext uri="{FF2B5EF4-FFF2-40B4-BE49-F238E27FC236}">
                  <a16:creationId xmlns:a16="http://schemas.microsoft.com/office/drawing/2014/main" id="{22DF86C7-DDF3-264A-0CBB-2AF10C467F53}"/>
                </a:ext>
              </a:extLst>
            </p:cNvPr>
            <p:cNvSpPr/>
            <p:nvPr/>
          </p:nvSpPr>
          <p:spPr>
            <a:xfrm>
              <a:off x="1005453" y="3431577"/>
              <a:ext cx="7943127" cy="6419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7BE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18">
              <a:extLst>
                <a:ext uri="{FF2B5EF4-FFF2-40B4-BE49-F238E27FC236}">
                  <a16:creationId xmlns:a16="http://schemas.microsoft.com/office/drawing/2014/main" id="{B1F8FBB6-6C3D-F06B-5369-45E689C2E944}"/>
                </a:ext>
              </a:extLst>
            </p:cNvPr>
            <p:cNvSpPr/>
            <p:nvPr/>
          </p:nvSpPr>
          <p:spPr>
            <a:xfrm>
              <a:off x="866775" y="3305523"/>
              <a:ext cx="556907" cy="556907"/>
            </a:xfrm>
            <a:prstGeom prst="rect">
              <a:avLst/>
            </a:prstGeom>
            <a:solidFill>
              <a:srgbClr val="87B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2">
              <a:extLst>
                <a:ext uri="{FF2B5EF4-FFF2-40B4-BE49-F238E27FC236}">
                  <a16:creationId xmlns:a16="http://schemas.microsoft.com/office/drawing/2014/main" id="{48BB2F8D-D75C-FAFB-B48E-42579F22E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256" y="3386765"/>
              <a:ext cx="527945" cy="3944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latinLnBrk="0">
                <a:lnSpc>
                  <a:spcPct val="80000"/>
                </a:lnSpc>
                <a:spcAft>
                  <a:spcPts val="200"/>
                </a:spcAft>
                <a:defRPr/>
              </a:pPr>
              <a:r>
                <a:rPr lang="en-US" altLang="ko" sz="2000">
                  <a:solidFill>
                    <a:schemeClr val="bg1"/>
                  </a:solidFill>
                  <a:latin typeface="나눔스퀘어 Bold" pitchFamily="50" charset="-127"/>
                  <a:ea typeface="나눔스퀘어 Bold" pitchFamily="50" charset="-127"/>
                </a:rPr>
                <a:t>02</a:t>
              </a:r>
              <a:endParaRPr lang="en-US" altLang="ko-KR" sz="2000" dirty="0">
                <a:solidFill>
                  <a:schemeClr val="bg1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913D37E-CDBE-9A93-07D6-0AFFEC0832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48664" y="3508375"/>
              <a:ext cx="7147091" cy="4883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10000"/>
                </a:lnSpc>
                <a:spcBef>
                  <a:spcPts val="800"/>
                </a:spcBef>
              </a:pPr>
              <a:r>
                <a:rPr lang="ko-KR" altLang="en-US" sz="2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Bold" pitchFamily="50" charset="-127"/>
                  <a:ea typeface="나눔스퀘어 Bold" pitchFamily="50" charset="-127"/>
                </a:rPr>
                <a:t>대회 안내</a:t>
              </a:r>
              <a:endParaRPr lang="en-US" altLang="ko-KR" sz="2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615B3A3-BBF6-F30F-D53B-442FDB0BC17D}"/>
              </a:ext>
            </a:extLst>
          </p:cNvPr>
          <p:cNvGrpSpPr/>
          <p:nvPr/>
        </p:nvGrpSpPr>
        <p:grpSpPr>
          <a:xfrm>
            <a:off x="534866" y="3636447"/>
            <a:ext cx="7616758" cy="677651"/>
            <a:chOff x="866775" y="3305523"/>
            <a:chExt cx="8081805" cy="767954"/>
          </a:xfrm>
        </p:grpSpPr>
        <p:sp>
          <p:nvSpPr>
            <p:cNvPr id="29" name="모서리가 둥근 직사각형 17">
              <a:extLst>
                <a:ext uri="{FF2B5EF4-FFF2-40B4-BE49-F238E27FC236}">
                  <a16:creationId xmlns:a16="http://schemas.microsoft.com/office/drawing/2014/main" id="{77C711FC-62E7-02CD-4E2B-8C311D6921D7}"/>
                </a:ext>
              </a:extLst>
            </p:cNvPr>
            <p:cNvSpPr/>
            <p:nvPr/>
          </p:nvSpPr>
          <p:spPr>
            <a:xfrm>
              <a:off x="1005453" y="3431577"/>
              <a:ext cx="7943127" cy="6419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87BE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모서리가 둥근 직사각형 18">
              <a:extLst>
                <a:ext uri="{FF2B5EF4-FFF2-40B4-BE49-F238E27FC236}">
                  <a16:creationId xmlns:a16="http://schemas.microsoft.com/office/drawing/2014/main" id="{119E780A-D59A-0789-E659-05C2C2DD6952}"/>
                </a:ext>
              </a:extLst>
            </p:cNvPr>
            <p:cNvSpPr/>
            <p:nvPr/>
          </p:nvSpPr>
          <p:spPr>
            <a:xfrm>
              <a:off x="866775" y="3305523"/>
              <a:ext cx="556907" cy="556907"/>
            </a:xfrm>
            <a:prstGeom prst="rect">
              <a:avLst/>
            </a:prstGeom>
            <a:solidFill>
              <a:srgbClr val="87B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22">
              <a:extLst>
                <a:ext uri="{FF2B5EF4-FFF2-40B4-BE49-F238E27FC236}">
                  <a16:creationId xmlns:a16="http://schemas.microsoft.com/office/drawing/2014/main" id="{F589D741-5D51-B259-399A-05DA9882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256" y="3386765"/>
              <a:ext cx="527945" cy="3944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latinLnBrk="0">
                <a:lnSpc>
                  <a:spcPct val="80000"/>
                </a:lnSpc>
                <a:spcAft>
                  <a:spcPts val="200"/>
                </a:spcAft>
                <a:defRPr/>
              </a:pPr>
              <a:r>
                <a:rPr lang="en-US" altLang="ko" sz="2000">
                  <a:solidFill>
                    <a:schemeClr val="bg1"/>
                  </a:solidFill>
                  <a:latin typeface="나눔스퀘어 Bold" pitchFamily="50" charset="-127"/>
                  <a:ea typeface="나눔스퀘어 Bold" pitchFamily="50" charset="-127"/>
                </a:rPr>
                <a:t>03</a:t>
              </a:r>
              <a:endParaRPr lang="en-US" altLang="ko-KR" sz="2000" dirty="0">
                <a:solidFill>
                  <a:schemeClr val="bg1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C5C3FDE-78C2-B5EC-B770-618EB0CEA0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48664" y="3508375"/>
              <a:ext cx="7147091" cy="4883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10000"/>
                </a:lnSpc>
                <a:spcBef>
                  <a:spcPts val="800"/>
                </a:spcBef>
              </a:pPr>
              <a:r>
                <a:rPr lang="en-US" altLang="ko-KR" sz="2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Bold" pitchFamily="50" charset="-127"/>
                  <a:ea typeface="나눔스퀘어 Bold" pitchFamily="50" charset="-127"/>
                </a:rPr>
                <a:t>Baseline </a:t>
              </a:r>
              <a:r>
                <a:rPr lang="ko-KR" altLang="en-US" sz="2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D2D2D"/>
                  </a:solidFill>
                  <a:latin typeface="나눔스퀘어 Bold" pitchFamily="50" charset="-127"/>
                  <a:ea typeface="나눔스퀘어 Bold" pitchFamily="50" charset="-127"/>
                </a:rPr>
                <a:t>프로그램 설명</a:t>
              </a:r>
              <a:endParaRPr lang="en-US" altLang="ko-KR" sz="2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2D2D2D"/>
                </a:solidFill>
                <a:latin typeface="나눔스퀘어 Bold" pitchFamily="50" charset="-127"/>
                <a:ea typeface="나눔스퀘어 Bold" pitchFamily="50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BA7A8E8-CD99-4B69-B615-0A9B3756B5D9}"/>
              </a:ext>
            </a:extLst>
          </p:cNvPr>
          <p:cNvSpPr txBox="1"/>
          <p:nvPr/>
        </p:nvSpPr>
        <p:spPr>
          <a:xfrm>
            <a:off x="481667" y="5373216"/>
            <a:ext cx="1872629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주최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서울사이버대학교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주관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빅데이터</a:t>
            </a:r>
            <a:r>
              <a:rPr lang="en-US" altLang="ko-KR" sz="1200" b="1" dirty="0"/>
              <a:t>·AI</a:t>
            </a:r>
            <a:r>
              <a:rPr lang="ko-KR" altLang="en-US" sz="1200" b="1" dirty="0"/>
              <a:t>센터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문의 </a:t>
            </a:r>
            <a:r>
              <a:rPr lang="en-US" altLang="ko-KR" sz="1200" b="1" dirty="0"/>
              <a:t>: 02-944-5653</a:t>
            </a:r>
          </a:p>
        </p:txBody>
      </p:sp>
    </p:spTree>
    <p:extLst>
      <p:ext uri="{BB962C8B-B14F-4D97-AF65-F5344CB8AC3E}">
        <p14:creationId xmlns:p14="http://schemas.microsoft.com/office/powerpoint/2010/main" val="21493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Kaggle </a:t>
            </a:r>
            <a:r>
              <a:rPr lang="ko-KR" altLang="en-US" dirty="0">
                <a:solidFill>
                  <a:schemeClr val="tx1"/>
                </a:solidFill>
              </a:rPr>
              <a:t>이란</a:t>
            </a:r>
            <a:r>
              <a:rPr lang="en-US" altLang="ko-KR" dirty="0">
                <a:solidFill>
                  <a:schemeClr val="tx1"/>
                </a:solidFill>
              </a:rPr>
              <a:t> ?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1113" y="2407956"/>
            <a:ext cx="5453790" cy="4261405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91544" y="873409"/>
            <a:ext cx="8315097" cy="1337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b="1" dirty="0"/>
              <a:t>전 세계 데이터 과학자를 꿈꾸는 사람들이 모이는 플랫폼</a:t>
            </a:r>
            <a:endParaRPr lang="en-US" altLang="ko-KR" sz="2400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/>
              <a:t>경진 대회</a:t>
            </a:r>
            <a:r>
              <a:rPr lang="en-US" altLang="ko-KR" sz="1600" b="1" dirty="0"/>
              <a:t>(</a:t>
            </a:r>
            <a:r>
              <a:rPr lang="en-US" altLang="ko-KR" sz="1600" b="1" dirty="0">
                <a:solidFill>
                  <a:srgbClr val="FF0000"/>
                </a:solidFill>
              </a:rPr>
              <a:t>Competitions</a:t>
            </a:r>
            <a:r>
              <a:rPr lang="en-US" altLang="ko-KR" sz="1600" b="1" dirty="0"/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공개 자원</a:t>
            </a:r>
            <a:r>
              <a:rPr lang="en-US" altLang="ko-KR" sz="1600" dirty="0"/>
              <a:t>(Datasets, Codes, Models, Discussion, Learn)</a:t>
            </a:r>
          </a:p>
        </p:txBody>
      </p:sp>
      <p:pic>
        <p:nvPicPr>
          <p:cNvPr id="1028" name="Picture 4" descr="https://encrypted-tbn0.gstatic.com/images?q=tbn:ANd9GcQjzC2JyZDZ_RaWf0qp11K0lcvB6b6kYNMoqtZAQ9hiPZ4cTIO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019" y="6700514"/>
            <a:ext cx="105622" cy="1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933538" y="6616403"/>
            <a:ext cx="11031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powered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by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google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텍스트 개체 틀 1">
            <a:hlinkClick r:id="rId4"/>
          </p:cNvPr>
          <p:cNvSpPr txBox="1">
            <a:spLocks/>
          </p:cNvSpPr>
          <p:nvPr/>
        </p:nvSpPr>
        <p:spPr>
          <a:xfrm>
            <a:off x="7752184" y="224352"/>
            <a:ext cx="316835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None/>
              <a:defRPr lang="ko-KR" altLang="en-US" sz="3200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itchFamily="50" charset="-127"/>
                <a:ea typeface="나눔스퀘어 ExtraBold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solidFill>
                  <a:schemeClr val="tx1"/>
                </a:solidFill>
              </a:rPr>
              <a:t>http://www.kaggle.com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7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1544" y="963885"/>
            <a:ext cx="4357540" cy="968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b="1" dirty="0"/>
              <a:t>경진대회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Competitons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란 </a:t>
            </a:r>
            <a:r>
              <a:rPr lang="en-US" altLang="ko-KR" sz="2400" b="1" dirty="0"/>
              <a:t>?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문제해결의 우선 순위를 다투는 것</a:t>
            </a:r>
            <a:endParaRPr lang="en-US" altLang="ko-KR" sz="1600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855640" y="2636912"/>
            <a:ext cx="352839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문제제시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7104112" y="2636912"/>
            <a:ext cx="273630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문제해결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4715" y="274027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실 세계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6528048" y="2924944"/>
            <a:ext cx="43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/>
        </p:nvSpPr>
        <p:spPr>
          <a:xfrm>
            <a:off x="2855640" y="3789040"/>
            <a:ext cx="352839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문제 및 데이터</a:t>
            </a:r>
            <a:r>
              <a:rPr lang="en-US" altLang="ko-KR" dirty="0"/>
              <a:t>, </a:t>
            </a:r>
            <a:r>
              <a:rPr lang="ko-KR" altLang="en-US" dirty="0"/>
              <a:t>기본 코드 제시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104112" y="3789040"/>
            <a:ext cx="273630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인공지능 모델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4715" y="3892406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Kaggle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6528048" y="4077072"/>
            <a:ext cx="43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2855640" y="5013176"/>
            <a:ext cx="3528392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서울시 실거래가 예측 문제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104112" y="5013176"/>
            <a:ext cx="273630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인공지능 모델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4715" y="51165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우리는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6528048" y="5301208"/>
            <a:ext cx="43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1">
            <a:extLst>
              <a:ext uri="{FF2B5EF4-FFF2-40B4-BE49-F238E27FC236}">
                <a16:creationId xmlns:a16="http://schemas.microsoft.com/office/drawing/2014/main" id="{0E6CC0CC-CC05-4EF1-A760-D14A5F91C7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Kaggle </a:t>
            </a:r>
            <a:r>
              <a:rPr lang="ko-KR" altLang="en-US" dirty="0">
                <a:solidFill>
                  <a:schemeClr val="tx1"/>
                </a:solidFill>
              </a:rPr>
              <a:t>이란</a:t>
            </a:r>
            <a:r>
              <a:rPr lang="en-US" altLang="ko-KR" dirty="0">
                <a:solidFill>
                  <a:schemeClr val="tx1"/>
                </a:solidFill>
              </a:rPr>
              <a:t> ?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텍스트 개체 틀 1">
            <a:hlinkClick r:id="rId2"/>
            <a:extLst>
              <a:ext uri="{FF2B5EF4-FFF2-40B4-BE49-F238E27FC236}">
                <a16:creationId xmlns:a16="http://schemas.microsoft.com/office/drawing/2014/main" id="{113D8060-F2FA-4BF2-97B5-A78ACDFE43C5}"/>
              </a:ext>
            </a:extLst>
          </p:cNvPr>
          <p:cNvSpPr txBox="1">
            <a:spLocks/>
          </p:cNvSpPr>
          <p:nvPr/>
        </p:nvSpPr>
        <p:spPr>
          <a:xfrm>
            <a:off x="7752184" y="224352"/>
            <a:ext cx="316835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None/>
              <a:defRPr lang="ko-KR" altLang="en-US" sz="3200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나눔스퀘어 ExtraBold" pitchFamily="50" charset="-127"/>
                <a:ea typeface="나눔스퀘어 ExtraBold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solidFill>
                  <a:schemeClr val="tx1"/>
                </a:solidFill>
              </a:rPr>
              <a:t>http://www.kaggle.com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17">
            <a:extLst>
              <a:ext uri="{FF2B5EF4-FFF2-40B4-BE49-F238E27FC236}">
                <a16:creationId xmlns:a16="http://schemas.microsoft.com/office/drawing/2014/main" id="{8F692271-F7CE-4280-8DC0-11A88847E8DA}"/>
              </a:ext>
            </a:extLst>
          </p:cNvPr>
          <p:cNvSpPr/>
          <p:nvPr/>
        </p:nvSpPr>
        <p:spPr>
          <a:xfrm>
            <a:off x="7104112" y="5687764"/>
            <a:ext cx="273630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인공지능 모델 개발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88361EE-BA5B-4E78-A67D-0BFD79AB7E5B}"/>
              </a:ext>
            </a:extLst>
          </p:cNvPr>
          <p:cNvCxnSpPr>
            <a:cxnSpLocks/>
          </p:cNvCxnSpPr>
          <p:nvPr/>
        </p:nvCxnSpPr>
        <p:spPr>
          <a:xfrm>
            <a:off x="6528048" y="5418708"/>
            <a:ext cx="432000" cy="540000"/>
          </a:xfrm>
          <a:prstGeom prst="bentConnector3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2C3DAEE-030C-4EF3-8345-487E6BA8D742}"/>
              </a:ext>
            </a:extLst>
          </p:cNvPr>
          <p:cNvSpPr txBox="1"/>
          <p:nvPr/>
        </p:nvSpPr>
        <p:spPr>
          <a:xfrm>
            <a:off x="6312024" y="2149662"/>
            <a:ext cx="93968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데이터</a:t>
            </a:r>
            <a:r>
              <a:rPr lang="en-US" altLang="ko-KR" sz="1100" dirty="0"/>
              <a:t> </a:t>
            </a:r>
            <a:r>
              <a:rPr lang="ko-KR" altLang="en-US" sz="1100" dirty="0"/>
              <a:t>수집</a:t>
            </a:r>
            <a:endParaRPr lang="en-US" altLang="ko-KR" sz="1100" dirty="0"/>
          </a:p>
          <a:p>
            <a:r>
              <a:rPr lang="en-US" altLang="ko-KR" sz="1100" dirty="0"/>
              <a:t>    …</a:t>
            </a:r>
          </a:p>
          <a:p>
            <a:r>
              <a:rPr lang="en-US" altLang="ko-KR" sz="1100" dirty="0"/>
              <a:t>    …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9297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7" grpId="0" animBg="1"/>
      <p:bldP spid="18" grpId="0" animBg="1"/>
      <p:bldP spid="19" grpId="0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3513" y="963886"/>
            <a:ext cx="8050602" cy="2670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b="1" dirty="0"/>
              <a:t>대회 개요</a:t>
            </a:r>
            <a:endParaRPr lang="en-US" altLang="ko-KR" sz="2400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[</a:t>
            </a:r>
            <a:r>
              <a:rPr lang="ko-KR" altLang="en-US" b="1" dirty="0"/>
              <a:t>주제</a:t>
            </a:r>
            <a:r>
              <a:rPr lang="en-US" altLang="ko-KR" b="1" dirty="0"/>
              <a:t>] </a:t>
            </a:r>
            <a:r>
              <a:rPr lang="ko-KR" altLang="en-US" b="1" dirty="0"/>
              <a:t>혁신 </a:t>
            </a:r>
            <a:r>
              <a:rPr lang="en-US" altLang="ko-KR" b="1" dirty="0"/>
              <a:t>AI </a:t>
            </a:r>
            <a:r>
              <a:rPr lang="ko-KR" altLang="en-US" b="1" dirty="0"/>
              <a:t>경진대회 </a:t>
            </a:r>
            <a:r>
              <a:rPr lang="en-US" altLang="ko-KR" b="1" dirty="0"/>
              <a:t>: </a:t>
            </a:r>
            <a:r>
              <a:rPr lang="ko-KR" altLang="en-US" dirty="0"/>
              <a:t>서울시 아파트 실거래가 예측 </a:t>
            </a:r>
            <a:r>
              <a:rPr lang="en-US" altLang="ko-KR" dirty="0"/>
              <a:t>AI </a:t>
            </a:r>
            <a:r>
              <a:rPr lang="ko-KR" altLang="en-US" dirty="0"/>
              <a:t>모델 개발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2520988" y="1999696"/>
            <a:ext cx="9350637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33CC"/>
                </a:solidFill>
              </a:rPr>
              <a:t>일상의 기본적인 의</a:t>
            </a:r>
            <a:r>
              <a:rPr lang="en-US" altLang="ko-KR" dirty="0">
                <a:solidFill>
                  <a:srgbClr val="0033CC"/>
                </a:solidFill>
              </a:rPr>
              <a:t>.</a:t>
            </a:r>
            <a:r>
              <a:rPr lang="ko-KR" altLang="en-US" dirty="0">
                <a:solidFill>
                  <a:srgbClr val="0033CC"/>
                </a:solidFill>
              </a:rPr>
              <a:t>식</a:t>
            </a:r>
            <a:r>
              <a:rPr lang="en-US" altLang="ko-KR" dirty="0">
                <a:solidFill>
                  <a:srgbClr val="0033CC"/>
                </a:solidFill>
              </a:rPr>
              <a:t>.</a:t>
            </a:r>
            <a:r>
              <a:rPr lang="ko-KR" altLang="en-US" dirty="0">
                <a:solidFill>
                  <a:srgbClr val="0033CC"/>
                </a:solidFill>
              </a:rPr>
              <a:t>주 중에 </a:t>
            </a:r>
            <a:r>
              <a:rPr lang="en-US" altLang="ko-KR" dirty="0">
                <a:solidFill>
                  <a:srgbClr val="0033CC"/>
                </a:solidFill>
              </a:rPr>
              <a:t>"</a:t>
            </a:r>
            <a:r>
              <a:rPr lang="ko-KR" altLang="en-US" dirty="0">
                <a:solidFill>
                  <a:srgbClr val="0033CC"/>
                </a:solidFill>
              </a:rPr>
              <a:t>주</a:t>
            </a:r>
            <a:r>
              <a:rPr lang="en-US" altLang="ko-KR" dirty="0">
                <a:solidFill>
                  <a:srgbClr val="0033CC"/>
                </a:solidFill>
              </a:rPr>
              <a:t>"</a:t>
            </a:r>
            <a:r>
              <a:rPr lang="ko-KR" altLang="en-US" dirty="0">
                <a:solidFill>
                  <a:srgbClr val="0033CC"/>
                </a:solidFill>
              </a:rPr>
              <a:t>에 해당할 수 있는 정보에 관심을 높여 보고자 합니다</a:t>
            </a:r>
            <a:r>
              <a:rPr lang="en-US" altLang="ko-KR" dirty="0">
                <a:solidFill>
                  <a:srgbClr val="0033CC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33CC"/>
                </a:solidFill>
              </a:rPr>
              <a:t>아파트 </a:t>
            </a:r>
            <a:r>
              <a:rPr lang="ko-KR" altLang="en-US" dirty="0" err="1">
                <a:solidFill>
                  <a:srgbClr val="0033CC"/>
                </a:solidFill>
              </a:rPr>
              <a:t>실거래가를</a:t>
            </a:r>
            <a:r>
              <a:rPr lang="ko-KR" altLang="en-US" dirty="0">
                <a:solidFill>
                  <a:srgbClr val="0033CC"/>
                </a:solidFill>
              </a:rPr>
              <a:t> 예측하는 </a:t>
            </a:r>
            <a:r>
              <a:rPr lang="en-US" altLang="ko-KR" dirty="0">
                <a:solidFill>
                  <a:srgbClr val="0033CC"/>
                </a:solidFill>
              </a:rPr>
              <a:t>AI </a:t>
            </a:r>
            <a:r>
              <a:rPr lang="ko-KR" altLang="en-US" dirty="0">
                <a:solidFill>
                  <a:srgbClr val="0033CC"/>
                </a:solidFill>
              </a:rPr>
              <a:t>기반 예측 모델 개발을 목표로 합니다</a:t>
            </a:r>
            <a:r>
              <a:rPr lang="en-US" altLang="ko-KR" dirty="0">
                <a:solidFill>
                  <a:srgbClr val="0033CC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rgbClr val="0033CC"/>
                </a:solidFill>
              </a:rPr>
              <a:t>실거래가를</a:t>
            </a:r>
            <a:r>
              <a:rPr lang="ko-KR" altLang="en-US" dirty="0">
                <a:solidFill>
                  <a:srgbClr val="0033CC"/>
                </a:solidFill>
              </a:rPr>
              <a:t> 결정할 수 있는 요소는 무엇이 있고</a:t>
            </a:r>
            <a:r>
              <a:rPr lang="en-US" altLang="ko-KR" dirty="0">
                <a:solidFill>
                  <a:srgbClr val="0033CC"/>
                </a:solidFill>
              </a:rPr>
              <a:t>, </a:t>
            </a:r>
            <a:r>
              <a:rPr lang="ko-KR" altLang="en-US" dirty="0">
                <a:solidFill>
                  <a:srgbClr val="0033CC"/>
                </a:solidFill>
              </a:rPr>
              <a:t>얼마만큼의 요인으로 작용하는지</a:t>
            </a:r>
            <a:endParaRPr lang="en-US" altLang="ko-KR" dirty="0">
              <a:solidFill>
                <a:srgbClr val="0033CC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33CC"/>
                </a:solidFill>
              </a:rPr>
              <a:t>간접적으로 체험함으로 실전에서의 데이터 인사이트</a:t>
            </a:r>
            <a:r>
              <a:rPr lang="en-US" altLang="ko-KR" dirty="0">
                <a:solidFill>
                  <a:srgbClr val="0033CC"/>
                </a:solidFill>
              </a:rPr>
              <a:t>, </a:t>
            </a:r>
            <a:r>
              <a:rPr lang="ko-KR" altLang="en-US" dirty="0">
                <a:solidFill>
                  <a:srgbClr val="0033CC"/>
                </a:solidFill>
              </a:rPr>
              <a:t>모델링 역량을 키울 수 있습니다</a:t>
            </a:r>
            <a:r>
              <a:rPr lang="en-US" altLang="ko-KR" dirty="0">
                <a:solidFill>
                  <a:srgbClr val="0033CC"/>
                </a:solidFill>
              </a:rPr>
              <a:t>.</a:t>
            </a:r>
            <a:endParaRPr lang="ko-KR" altLang="en-US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34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3512" y="963885"/>
            <a:ext cx="2537874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b="1" dirty="0"/>
              <a:t>대회 참여 순서</a:t>
            </a:r>
            <a:endParaRPr lang="en-US" altLang="ko-KR" sz="2400" b="1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1775520" y="2132856"/>
            <a:ext cx="2465866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대회 준비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871864" y="2146201"/>
            <a:ext cx="3096902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모델 수정 </a:t>
            </a:r>
            <a:r>
              <a:rPr lang="en-US" altLang="ko-KR"/>
              <a:t>or </a:t>
            </a:r>
            <a:r>
              <a:rPr lang="ko-KR" altLang="en-US"/>
              <a:t>신규 개발 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8472264" y="2132856"/>
            <a:ext cx="2016224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결과 제출</a:t>
            </a:r>
          </a:p>
        </p:txBody>
      </p:sp>
      <p:sp>
        <p:nvSpPr>
          <p:cNvPr id="6" name="위로 구부러진 화살표 5"/>
          <p:cNvSpPr/>
          <p:nvPr/>
        </p:nvSpPr>
        <p:spPr>
          <a:xfrm flipH="1" flipV="1">
            <a:off x="6924650" y="1484784"/>
            <a:ext cx="2520280" cy="607636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3556850"/>
            <a:ext cx="4608512" cy="32565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오른쪽 화살표 6"/>
          <p:cNvSpPr/>
          <p:nvPr/>
        </p:nvSpPr>
        <p:spPr>
          <a:xfrm>
            <a:off x="4439816" y="2348880"/>
            <a:ext cx="288032" cy="28803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8112224" y="2312876"/>
            <a:ext cx="288032" cy="2880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484912" y="2833192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</a:rPr>
              <a:t>(3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</a:rPr>
              <a:t>분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</a:rPr>
              <a:t>15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</a:rPr>
              <a:t>초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3240" y="2833192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(10</a:t>
            </a: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초</a:t>
            </a:r>
            <a:r>
              <a:rPr lang="en-US" altLang="ko-KR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92344" y="2833192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</a:rPr>
              <a:t>(6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</a:rPr>
              <a:t>초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0384" y="1051720"/>
            <a:ext cx="153118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/>
              <a:t>주거 관련 지식</a:t>
            </a:r>
            <a:endParaRPr lang="en-US" altLang="ko-KR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/>
              <a:t>인공지능 모델 지식</a:t>
            </a:r>
            <a:endParaRPr lang="en-US" altLang="ko-KR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/>
              <a:t>프로그램 개발 지식</a:t>
            </a:r>
          </a:p>
        </p:txBody>
      </p:sp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6702D9FD-35E9-4416-AF77-2E439BECD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</p:spTree>
    <p:extLst>
      <p:ext uri="{BB962C8B-B14F-4D97-AF65-F5344CB8AC3E}">
        <p14:creationId xmlns:p14="http://schemas.microsoft.com/office/powerpoint/2010/main" val="3205505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479376" y="1114872"/>
            <a:ext cx="2465866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대회 준비</a:t>
            </a:r>
          </a:p>
        </p:txBody>
      </p:sp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6702D9FD-35E9-4416-AF77-2E439BECD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2AB52B-C1BE-4C24-A8F9-FFB25C2EF2D2}"/>
              </a:ext>
            </a:extLst>
          </p:cNvPr>
          <p:cNvSpPr txBox="1"/>
          <p:nvPr/>
        </p:nvSpPr>
        <p:spPr>
          <a:xfrm>
            <a:off x="1055440" y="1856431"/>
            <a:ext cx="7236533" cy="4846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400" b="1" dirty="0"/>
              <a:t>기본 지식 배우기</a:t>
            </a:r>
            <a:endParaRPr lang="en-US" altLang="ko-KR" sz="2400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1. Kaggle </a:t>
            </a:r>
            <a:r>
              <a:rPr lang="ko-KR" altLang="en-US" b="1" dirty="0"/>
              <a:t>계정 생성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(10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초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/>
              <a:t>  - </a:t>
            </a:r>
            <a:r>
              <a:rPr lang="en-US" altLang="ko-KR" sz="1600" b="1" dirty="0">
                <a:hlinkClick r:id="rId2"/>
              </a:rPr>
              <a:t>https://www.kaggle.com</a:t>
            </a:r>
            <a:endParaRPr lang="en-US" altLang="ko-KR" sz="1600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2. </a:t>
            </a:r>
            <a:r>
              <a:rPr lang="ko-KR" altLang="en-US" b="1" dirty="0"/>
              <a:t>대회 사이트 접속</a:t>
            </a:r>
            <a:r>
              <a:rPr lang="en-US" altLang="ko-KR" b="1" dirty="0"/>
              <a:t>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(5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초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- </a:t>
            </a:r>
            <a:r>
              <a:rPr lang="en-US" altLang="ko-KR" sz="1600" b="1" dirty="0">
                <a:hlinkClick r:id="rId3"/>
              </a:rPr>
              <a:t>https://www.kaggle.com/competitions/scu-5th-ai-competition</a:t>
            </a:r>
            <a:endParaRPr lang="en-US" altLang="ko-KR" sz="1600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3. </a:t>
            </a:r>
            <a:r>
              <a:rPr lang="ko-KR" altLang="en-US" b="1" dirty="0"/>
              <a:t>대회 사이트 둘러보기</a:t>
            </a:r>
            <a:r>
              <a:rPr lang="en-US" altLang="ko-KR" b="1" dirty="0"/>
              <a:t>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(3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분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/>
              <a:t>  - Overview (</a:t>
            </a:r>
            <a:r>
              <a:rPr lang="ko-KR" altLang="en-US" sz="1600" b="1" dirty="0"/>
              <a:t>개요</a:t>
            </a:r>
            <a:r>
              <a:rPr lang="en-US" altLang="ko-KR" sz="1600" b="1" dirty="0"/>
              <a:t>) : </a:t>
            </a:r>
            <a:r>
              <a:rPr lang="en-US" altLang="ko-KR" sz="1600" b="1" dirty="0">
                <a:solidFill>
                  <a:srgbClr val="FF0000"/>
                </a:solidFill>
              </a:rPr>
              <a:t>Baseline </a:t>
            </a:r>
            <a:r>
              <a:rPr lang="ko-KR" altLang="en-US" sz="1600" b="1" dirty="0">
                <a:solidFill>
                  <a:srgbClr val="FF0000"/>
                </a:solidFill>
              </a:rPr>
              <a:t>코드 링크 매우 중요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- Data (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제공되는 데이터 설명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- Discussion (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토론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b="1" dirty="0"/>
              <a:t>  - Leaderboard (</a:t>
            </a:r>
            <a:r>
              <a:rPr lang="ko-KR" altLang="en-US" sz="1600" b="1" dirty="0"/>
              <a:t>순위</a:t>
            </a:r>
            <a:r>
              <a:rPr lang="en-US" altLang="ko-KR" sz="1600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- Rules (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규칙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19" name="모서리가 둥근 직사각형 7">
            <a:extLst>
              <a:ext uri="{FF2B5EF4-FFF2-40B4-BE49-F238E27FC236}">
                <a16:creationId xmlns:a16="http://schemas.microsoft.com/office/drawing/2014/main" id="{58CAB38E-7981-4BF9-A2E6-88517DD422DE}"/>
              </a:ext>
            </a:extLst>
          </p:cNvPr>
          <p:cNvSpPr/>
          <p:nvPr/>
        </p:nvSpPr>
        <p:spPr>
          <a:xfrm>
            <a:off x="12432704" y="1783119"/>
            <a:ext cx="3096902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모델 수정 </a:t>
            </a:r>
            <a:r>
              <a:rPr lang="en-US" altLang="ko-KR"/>
              <a:t>or </a:t>
            </a:r>
            <a:r>
              <a:rPr lang="ko-KR" altLang="en-US"/>
              <a:t>신규 개발 </a:t>
            </a:r>
          </a:p>
        </p:txBody>
      </p:sp>
      <p:sp>
        <p:nvSpPr>
          <p:cNvPr id="20" name="모서리가 둥근 직사각형 8">
            <a:extLst>
              <a:ext uri="{FF2B5EF4-FFF2-40B4-BE49-F238E27FC236}">
                <a16:creationId xmlns:a16="http://schemas.microsoft.com/office/drawing/2014/main" id="{1225CD51-D2E2-4283-8049-29814CF9E1A1}"/>
              </a:ext>
            </a:extLst>
          </p:cNvPr>
          <p:cNvSpPr/>
          <p:nvPr/>
        </p:nvSpPr>
        <p:spPr>
          <a:xfrm>
            <a:off x="12430124" y="2564904"/>
            <a:ext cx="2016224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결과 제출</a:t>
            </a:r>
          </a:p>
        </p:txBody>
      </p:sp>
    </p:spTree>
    <p:extLst>
      <p:ext uri="{BB962C8B-B14F-4D97-AF65-F5344CB8AC3E}">
        <p14:creationId xmlns:p14="http://schemas.microsoft.com/office/powerpoint/2010/main" val="4145866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6702D9FD-35E9-4416-AF77-2E439BECD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2AB52B-C1BE-4C24-A8F9-FFB25C2EF2D2}"/>
              </a:ext>
            </a:extLst>
          </p:cNvPr>
          <p:cNvSpPr txBox="1"/>
          <p:nvPr/>
        </p:nvSpPr>
        <p:spPr>
          <a:xfrm>
            <a:off x="1055440" y="1856431"/>
            <a:ext cx="7867090" cy="4932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2400" b="1" dirty="0"/>
              <a:t>AI </a:t>
            </a:r>
            <a:r>
              <a:rPr lang="ko-KR" altLang="en-US" sz="2400" b="1" dirty="0"/>
              <a:t>모델링 방법 배우기</a:t>
            </a:r>
            <a:endParaRPr lang="en-US" altLang="ko-KR" sz="2400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1. Baseline</a:t>
            </a:r>
            <a:r>
              <a:rPr lang="ko-KR" altLang="en-US" b="1" dirty="0"/>
              <a:t> 코드 링크로 접속 및 실행</a:t>
            </a:r>
            <a:r>
              <a:rPr lang="ko-KR" altLang="en-US" sz="1600" b="1" dirty="0"/>
              <a:t>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(15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초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b="1" dirty="0"/>
              <a:t>  - </a:t>
            </a:r>
            <a:r>
              <a:rPr lang="en-US" altLang="ko-KR" sz="1400" b="1" dirty="0">
                <a:hlinkClick r:id="rId2"/>
              </a:rPr>
              <a:t>https://colab.research.google.com/drive/1cji6T9vCYhBhCGQYFT9lbXJ_MCT1K-6k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※ </a:t>
            </a:r>
            <a:r>
              <a:rPr lang="ko-KR" altLang="en-US" sz="1600" dirty="0"/>
              <a:t>방법</a:t>
            </a:r>
            <a:r>
              <a:rPr lang="en-US" altLang="ko-KR" sz="1600" dirty="0"/>
              <a:t>#1 : </a:t>
            </a:r>
            <a:r>
              <a:rPr lang="ko-KR" altLang="en-US" sz="1600" dirty="0"/>
              <a:t>프로그램 설명을 참고해서 수정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※ </a:t>
            </a:r>
            <a:r>
              <a:rPr lang="ko-KR" altLang="en-US" sz="1600" dirty="0"/>
              <a:t>방법</a:t>
            </a:r>
            <a:r>
              <a:rPr lang="en-US" altLang="ko-KR" sz="1600" dirty="0"/>
              <a:t>#2 : </a:t>
            </a:r>
            <a:r>
              <a:rPr lang="ko-KR" altLang="en-US" sz="1600" dirty="0"/>
              <a:t>프로그램 설명을 참고해서 나만의 새로운 </a:t>
            </a:r>
            <a:r>
              <a:rPr lang="en-US" altLang="ko-KR" sz="1600" dirty="0"/>
              <a:t>AI </a:t>
            </a:r>
            <a:r>
              <a:rPr lang="ko-KR" altLang="en-US" sz="1600" dirty="0"/>
              <a:t>모델 생성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●</a:t>
            </a:r>
            <a:r>
              <a:rPr lang="en-US" altLang="ko-KR" b="1" dirty="0"/>
              <a:t> </a:t>
            </a:r>
            <a:r>
              <a:rPr lang="ko-KR" altLang="en-US" b="1" dirty="0"/>
              <a:t>모델 성능을 높이는 가장 쉬운 방법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- </a:t>
            </a:r>
            <a:r>
              <a:rPr lang="ko-KR" altLang="en-US" sz="1600" dirty="0"/>
              <a:t>특성 엔지니어링 </a:t>
            </a:r>
            <a:r>
              <a:rPr lang="en-US" altLang="ko-KR" sz="1600" dirty="0"/>
              <a:t>(feature engineering)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- </a:t>
            </a:r>
            <a:r>
              <a:rPr lang="ko-KR" altLang="en-US" sz="1600" dirty="0"/>
              <a:t>앙상블</a:t>
            </a:r>
            <a:r>
              <a:rPr lang="en-US" altLang="ko-KR" sz="1600" dirty="0"/>
              <a:t>(model ensemble, average ensemble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- </a:t>
            </a:r>
            <a:r>
              <a:rPr lang="ko-KR" altLang="en-US" sz="1600" dirty="0"/>
              <a:t>튜닝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하이퍼파라메터</a:t>
            </a:r>
            <a:r>
              <a:rPr lang="ko-KR" altLang="en-US" sz="1600" dirty="0"/>
              <a:t> 튜닝 등</a:t>
            </a:r>
            <a:r>
              <a:rPr lang="en-US" altLang="ko-KR" sz="16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b="1" dirty="0"/>
          </a:p>
        </p:txBody>
      </p:sp>
      <p:sp>
        <p:nvSpPr>
          <p:cNvPr id="20" name="모서리가 둥근 직사각형 8">
            <a:extLst>
              <a:ext uri="{FF2B5EF4-FFF2-40B4-BE49-F238E27FC236}">
                <a16:creationId xmlns:a16="http://schemas.microsoft.com/office/drawing/2014/main" id="{1225CD51-D2E2-4283-8049-29814CF9E1A1}"/>
              </a:ext>
            </a:extLst>
          </p:cNvPr>
          <p:cNvSpPr/>
          <p:nvPr/>
        </p:nvSpPr>
        <p:spPr>
          <a:xfrm>
            <a:off x="12430124" y="2564904"/>
            <a:ext cx="2016224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결과 제출</a:t>
            </a:r>
          </a:p>
        </p:txBody>
      </p:sp>
      <p:sp>
        <p:nvSpPr>
          <p:cNvPr id="19" name="모서리가 둥근 직사각형 7">
            <a:extLst>
              <a:ext uri="{FF2B5EF4-FFF2-40B4-BE49-F238E27FC236}">
                <a16:creationId xmlns:a16="http://schemas.microsoft.com/office/drawing/2014/main" id="{58CAB38E-7981-4BF9-A2E6-88517DD422DE}"/>
              </a:ext>
            </a:extLst>
          </p:cNvPr>
          <p:cNvSpPr/>
          <p:nvPr/>
        </p:nvSpPr>
        <p:spPr>
          <a:xfrm>
            <a:off x="479376" y="1096783"/>
            <a:ext cx="3096902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모델 수정 </a:t>
            </a:r>
            <a:r>
              <a:rPr lang="en-US" altLang="ko-KR"/>
              <a:t>or </a:t>
            </a:r>
            <a:r>
              <a:rPr lang="ko-KR" altLang="en-US"/>
              <a:t>신규 개발 </a:t>
            </a:r>
          </a:p>
        </p:txBody>
      </p:sp>
    </p:spTree>
    <p:extLst>
      <p:ext uri="{BB962C8B-B14F-4D97-AF65-F5344CB8AC3E}">
        <p14:creationId xmlns:p14="http://schemas.microsoft.com/office/powerpoint/2010/main" val="2677543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6702D9FD-35E9-4416-AF77-2E439BECD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2AB52B-C1BE-4C24-A8F9-FFB25C2EF2D2}"/>
              </a:ext>
            </a:extLst>
          </p:cNvPr>
          <p:cNvSpPr txBox="1"/>
          <p:nvPr/>
        </p:nvSpPr>
        <p:spPr>
          <a:xfrm>
            <a:off x="1055440" y="1856431"/>
            <a:ext cx="4607352" cy="3639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2400" b="1" dirty="0"/>
              <a:t>AI </a:t>
            </a:r>
            <a:r>
              <a:rPr lang="ko-KR" altLang="en-US" sz="2400" b="1" dirty="0"/>
              <a:t>모델 실행결과 제출 배우기</a:t>
            </a:r>
            <a:endParaRPr lang="en-US" altLang="ko-KR" sz="2400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1. </a:t>
            </a:r>
            <a:r>
              <a:rPr lang="ko-KR" altLang="en-US" b="1" dirty="0"/>
              <a:t>결과 다운로드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(1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초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0" name="모서리가 둥근 직사각형 8">
            <a:extLst>
              <a:ext uri="{FF2B5EF4-FFF2-40B4-BE49-F238E27FC236}">
                <a16:creationId xmlns:a16="http://schemas.microsoft.com/office/drawing/2014/main" id="{1225CD51-D2E2-4283-8049-29814CF9E1A1}"/>
              </a:ext>
            </a:extLst>
          </p:cNvPr>
          <p:cNvSpPr/>
          <p:nvPr/>
        </p:nvSpPr>
        <p:spPr>
          <a:xfrm>
            <a:off x="479376" y="1096783"/>
            <a:ext cx="2016224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결과 제출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1F86C73-9B5B-40C6-907C-FA21533B1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128" y="2204864"/>
            <a:ext cx="3368283" cy="3034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04F55DAB-5545-4013-A251-E518B62746BA}"/>
              </a:ext>
            </a:extLst>
          </p:cNvPr>
          <p:cNvSpPr/>
          <p:nvPr/>
        </p:nvSpPr>
        <p:spPr>
          <a:xfrm>
            <a:off x="8887440" y="4231154"/>
            <a:ext cx="559971" cy="364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A9D76D4C-7941-4327-8FDA-D4B9A0C47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959" y="4830436"/>
            <a:ext cx="22098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굽은 화살표 5">
            <a:extLst>
              <a:ext uri="{FF2B5EF4-FFF2-40B4-BE49-F238E27FC236}">
                <a16:creationId xmlns:a16="http://schemas.microsoft.com/office/drawing/2014/main" id="{CC3F5C56-0904-4EC4-8FAC-3225837AC0C2}"/>
              </a:ext>
            </a:extLst>
          </p:cNvPr>
          <p:cNvSpPr/>
          <p:nvPr/>
        </p:nvSpPr>
        <p:spPr>
          <a:xfrm rot="5400000">
            <a:off x="9736187" y="4099782"/>
            <a:ext cx="460040" cy="866800"/>
          </a:xfrm>
          <a:prstGeom prst="bentArrow">
            <a:avLst>
              <a:gd name="adj1" fmla="val 25000"/>
              <a:gd name="adj2" fmla="val 50000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모서리가 둥근 직사각형 9">
            <a:extLst>
              <a:ext uri="{FF2B5EF4-FFF2-40B4-BE49-F238E27FC236}">
                <a16:creationId xmlns:a16="http://schemas.microsoft.com/office/drawing/2014/main" id="{FE9F7E81-DFFB-4F97-81B2-F1E74E7013AA}"/>
              </a:ext>
            </a:extLst>
          </p:cNvPr>
          <p:cNvSpPr/>
          <p:nvPr/>
        </p:nvSpPr>
        <p:spPr>
          <a:xfrm>
            <a:off x="9532807" y="4820389"/>
            <a:ext cx="866800" cy="364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9">
            <a:extLst>
              <a:ext uri="{FF2B5EF4-FFF2-40B4-BE49-F238E27FC236}">
                <a16:creationId xmlns:a16="http://schemas.microsoft.com/office/drawing/2014/main" id="{0BCF6436-7BE8-4C6D-B961-6D401E6A3DF6}"/>
              </a:ext>
            </a:extLst>
          </p:cNvPr>
          <p:cNvSpPr/>
          <p:nvPr/>
        </p:nvSpPr>
        <p:spPr>
          <a:xfrm>
            <a:off x="9549680" y="4820389"/>
            <a:ext cx="866800" cy="364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13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">
            <a:extLst>
              <a:ext uri="{FF2B5EF4-FFF2-40B4-BE49-F238E27FC236}">
                <a16:creationId xmlns:a16="http://schemas.microsoft.com/office/drawing/2014/main" id="{6702D9FD-35E9-4416-AF77-2E439BECD4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대회 안내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2AB52B-C1BE-4C24-A8F9-FFB25C2EF2D2}"/>
              </a:ext>
            </a:extLst>
          </p:cNvPr>
          <p:cNvSpPr txBox="1"/>
          <p:nvPr/>
        </p:nvSpPr>
        <p:spPr>
          <a:xfrm>
            <a:off x="1055440" y="1856431"/>
            <a:ext cx="4653838" cy="3639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2400" b="1" dirty="0"/>
              <a:t>AI </a:t>
            </a:r>
            <a:r>
              <a:rPr lang="ko-KR" altLang="en-US" sz="2400" b="1" dirty="0"/>
              <a:t>모델 실행결과 제출 배우기</a:t>
            </a:r>
            <a:endParaRPr lang="en-US" altLang="ko-KR" sz="2400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2. Kaggle </a:t>
            </a:r>
            <a:r>
              <a:rPr lang="ko-KR" altLang="en-US" b="1" dirty="0"/>
              <a:t>제출 및 순위 확인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(5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초 소요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20" name="모서리가 둥근 직사각형 8">
            <a:extLst>
              <a:ext uri="{FF2B5EF4-FFF2-40B4-BE49-F238E27FC236}">
                <a16:creationId xmlns:a16="http://schemas.microsoft.com/office/drawing/2014/main" id="{1225CD51-D2E2-4283-8049-29814CF9E1A1}"/>
              </a:ext>
            </a:extLst>
          </p:cNvPr>
          <p:cNvSpPr/>
          <p:nvPr/>
        </p:nvSpPr>
        <p:spPr>
          <a:xfrm>
            <a:off x="479376" y="1096783"/>
            <a:ext cx="2016224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결과 제출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F5B48D62-E707-40B8-BCBA-42D3D0669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74" y="3212977"/>
            <a:ext cx="2825241" cy="35371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2C3F231B-A9C2-43AB-8783-E7BE1EC2A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912" y="3212975"/>
            <a:ext cx="4108800" cy="29034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줄무늬가 있는 오른쪽 화살표 2">
            <a:extLst>
              <a:ext uri="{FF2B5EF4-FFF2-40B4-BE49-F238E27FC236}">
                <a16:creationId xmlns:a16="http://schemas.microsoft.com/office/drawing/2014/main" id="{46685DF6-91D2-4DE5-9F83-6846DD22D69C}"/>
              </a:ext>
            </a:extLst>
          </p:cNvPr>
          <p:cNvSpPr/>
          <p:nvPr/>
        </p:nvSpPr>
        <p:spPr>
          <a:xfrm>
            <a:off x="7896200" y="6188397"/>
            <a:ext cx="3888432" cy="552971"/>
          </a:xfrm>
          <a:prstGeom prst="stripedRightArrow">
            <a:avLst>
              <a:gd name="adj1" fmla="val 50000"/>
              <a:gd name="adj2" fmla="val 5101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모델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개선 후 다시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제출 </a:t>
            </a:r>
            <a:r>
              <a:rPr lang="en-US" altLang="ko-KR" sz="1400" b="1" dirty="0"/>
              <a:t>~</a:t>
            </a:r>
            <a:endParaRPr lang="ko-KR" altLang="en-US" sz="1400" b="1" dirty="0"/>
          </a:p>
        </p:txBody>
      </p:sp>
      <p:sp>
        <p:nvSpPr>
          <p:cNvPr id="24" name="모서리가 둥근 직사각형 8">
            <a:extLst>
              <a:ext uri="{FF2B5EF4-FFF2-40B4-BE49-F238E27FC236}">
                <a16:creationId xmlns:a16="http://schemas.microsoft.com/office/drawing/2014/main" id="{354DE341-44F8-4B69-BEBD-2C0F0FEBE3F3}"/>
              </a:ext>
            </a:extLst>
          </p:cNvPr>
          <p:cNvSpPr/>
          <p:nvPr/>
        </p:nvSpPr>
        <p:spPr>
          <a:xfrm>
            <a:off x="4143946" y="4869160"/>
            <a:ext cx="864096" cy="364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9">
            <a:extLst>
              <a:ext uri="{FF2B5EF4-FFF2-40B4-BE49-F238E27FC236}">
                <a16:creationId xmlns:a16="http://schemas.microsoft.com/office/drawing/2014/main" id="{1C769A79-78B7-43B9-A7DE-4F1A110D3610}"/>
              </a:ext>
            </a:extLst>
          </p:cNvPr>
          <p:cNvSpPr/>
          <p:nvPr/>
        </p:nvSpPr>
        <p:spPr>
          <a:xfrm>
            <a:off x="5464021" y="6494919"/>
            <a:ext cx="559971" cy="3184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10">
            <a:extLst>
              <a:ext uri="{FF2B5EF4-FFF2-40B4-BE49-F238E27FC236}">
                <a16:creationId xmlns:a16="http://schemas.microsoft.com/office/drawing/2014/main" id="{1E98DCE8-1E61-46F3-A9B0-D2A553410D33}"/>
              </a:ext>
            </a:extLst>
          </p:cNvPr>
          <p:cNvSpPr/>
          <p:nvPr/>
        </p:nvSpPr>
        <p:spPr>
          <a:xfrm>
            <a:off x="7156929" y="5388657"/>
            <a:ext cx="432048" cy="2875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E94EA-D108-456F-B988-08591CAA318D}"/>
              </a:ext>
            </a:extLst>
          </p:cNvPr>
          <p:cNvSpPr txBox="1"/>
          <p:nvPr/>
        </p:nvSpPr>
        <p:spPr>
          <a:xfrm>
            <a:off x="4943872" y="46531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C30C6E-0228-472E-91B5-D0A473F5FF88}"/>
              </a:ext>
            </a:extLst>
          </p:cNvPr>
          <p:cNvSpPr txBox="1"/>
          <p:nvPr/>
        </p:nvSpPr>
        <p:spPr>
          <a:xfrm>
            <a:off x="5960261" y="62848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EBE01D-98C7-4316-9E30-1C3A41A19CA9}"/>
              </a:ext>
            </a:extLst>
          </p:cNvPr>
          <p:cNvSpPr txBox="1"/>
          <p:nvPr/>
        </p:nvSpPr>
        <p:spPr>
          <a:xfrm>
            <a:off x="7401714" y="50622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93427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144" y="980728"/>
            <a:ext cx="4830168" cy="4846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000" b="1" dirty="0"/>
              <a:t>상금 안내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총 상금 </a:t>
            </a:r>
            <a:r>
              <a:rPr lang="en-US" altLang="ko-KR" sz="2000" b="1" dirty="0"/>
              <a:t>\3,000,000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000" b="1" dirty="0"/>
              <a:t>대회 기간</a:t>
            </a:r>
            <a:endParaRPr lang="en-US" altLang="ko-KR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2026. 6. 22(</a:t>
            </a:r>
            <a:r>
              <a:rPr lang="ko-KR" altLang="en-US" sz="1600" dirty="0"/>
              <a:t>월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~ 2026. 7. 8(</a:t>
            </a:r>
            <a:r>
              <a:rPr lang="ko-KR" altLang="en-US" sz="1600" dirty="0"/>
              <a:t>수</a:t>
            </a:r>
            <a:r>
              <a:rPr lang="en-US" altLang="ko-KR" sz="1600" dirty="0"/>
              <a:t>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시상식 예정일 </a:t>
            </a:r>
            <a:r>
              <a:rPr lang="en-US" altLang="ko-KR" sz="1600" dirty="0"/>
              <a:t>: 2026. 7. 11(</a:t>
            </a:r>
            <a:r>
              <a:rPr lang="ko-KR" altLang="en-US" sz="1600" dirty="0"/>
              <a:t>토</a:t>
            </a:r>
            <a:r>
              <a:rPr lang="en-US" altLang="ko-KR" sz="1600" dirty="0"/>
              <a:t>) 14:00 A</a:t>
            </a:r>
            <a:r>
              <a:rPr lang="ko-KR" altLang="en-US" sz="1600" dirty="0"/>
              <a:t>동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2000" b="1" dirty="0"/>
              <a:t>규칙</a:t>
            </a:r>
            <a:endParaRPr lang="en-US" altLang="ko-KR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하루에 </a:t>
            </a:r>
            <a:r>
              <a:rPr lang="en-US" altLang="ko-KR" sz="1600" dirty="0"/>
              <a:t>5</a:t>
            </a:r>
            <a:r>
              <a:rPr lang="ko-KR" altLang="en-US" sz="1600" dirty="0"/>
              <a:t>번 결과 제출 가능</a:t>
            </a:r>
            <a:endParaRPr lang="en-US" altLang="ko-KR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625825" y="1983043"/>
            <a:ext cx="3070071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최우수상 </a:t>
            </a:r>
            <a:r>
              <a:rPr lang="en-US" altLang="ko-KR" sz="1600" dirty="0"/>
              <a:t>: \ 400,000 (1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우수상    </a:t>
            </a:r>
            <a:r>
              <a:rPr lang="en-US" altLang="ko-KR" sz="1600" dirty="0"/>
              <a:t>: \ 150,000 (2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장려상    </a:t>
            </a:r>
            <a:r>
              <a:rPr lang="en-US" altLang="ko-KR" sz="1600" dirty="0"/>
              <a:t>: \ 100,000 (3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pic>
        <p:nvPicPr>
          <p:cNvPr id="4098" name="Picture 2" descr="28,400개 이상의 메달 수상대 스톡 사진, 그림 및 Royalty-Free 이미지 - i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8370"/>
          <a:stretch/>
        </p:blipFill>
        <p:spPr bwMode="auto">
          <a:xfrm>
            <a:off x="5521292" y="5301208"/>
            <a:ext cx="2877002" cy="79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734595" y="6187504"/>
            <a:ext cx="37417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u="sng" dirty="0"/>
              <a:t>※ </a:t>
            </a:r>
            <a:r>
              <a:rPr lang="ko-KR" altLang="en-US" sz="1200" u="sng" dirty="0"/>
              <a:t>최종 결과 발표 및 시상식 </a:t>
            </a:r>
            <a:r>
              <a:rPr lang="en-US" altLang="ko-KR" sz="1200" u="sng" dirty="0"/>
              <a:t>: 7</a:t>
            </a:r>
            <a:r>
              <a:rPr lang="ko-KR" altLang="en-US" sz="1200" u="sng" dirty="0"/>
              <a:t>월 中 개별연락 예정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766038" y="5301208"/>
            <a:ext cx="3332964" cy="14157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ko-KR" altLang="en-US" dirty="0"/>
              <a:t>질문이 있다면 언제든 주세요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24</a:t>
            </a:r>
            <a:r>
              <a:rPr lang="ko-KR" altLang="en-US" dirty="0"/>
              <a:t>시간 답변 드립니다</a:t>
            </a:r>
            <a:r>
              <a:rPr lang="en-US" altLang="ko-KR" dirty="0"/>
              <a:t>.</a:t>
            </a:r>
          </a:p>
          <a:p>
            <a:endParaRPr lang="en-US" altLang="ko-KR" u="sng" dirty="0"/>
          </a:p>
          <a:p>
            <a:r>
              <a:rPr lang="en-US" altLang="ko-KR" sz="1600" b="1" dirty="0"/>
              <a:t>[</a:t>
            </a:r>
            <a:r>
              <a:rPr lang="ko-KR" altLang="en-US" sz="1600" b="1" dirty="0" err="1"/>
              <a:t>디스코드</a:t>
            </a:r>
            <a:r>
              <a:rPr lang="ko-KR" altLang="en-US" sz="1600" b="1" dirty="0"/>
              <a:t> 초대 링크</a:t>
            </a:r>
            <a:r>
              <a:rPr lang="en-US" altLang="ko-KR" sz="1600" b="1" dirty="0"/>
              <a:t>]</a:t>
            </a:r>
            <a:endParaRPr lang="en-US" altLang="ko-KR" sz="1600" b="1" u="sng" dirty="0"/>
          </a:p>
          <a:p>
            <a:r>
              <a:rPr lang="en-US" altLang="ko-KR" sz="1600" b="1" u="sng" dirty="0">
                <a:hlinkClick r:id="rId3"/>
              </a:rPr>
              <a:t>https://discord.gg/dR4xjvkt9U</a:t>
            </a:r>
            <a:endParaRPr lang="ko-KR" altLang="en-US" sz="1600" b="1" u="sng" dirty="0"/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5EEF3C01-611E-42EB-8A12-178A1D669C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기타 안내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71911-4015-4E1D-8D3A-3408175B7308}"/>
              </a:ext>
            </a:extLst>
          </p:cNvPr>
          <p:cNvSpPr txBox="1"/>
          <p:nvPr/>
        </p:nvSpPr>
        <p:spPr>
          <a:xfrm>
            <a:off x="645049" y="1729317"/>
            <a:ext cx="311174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/>
              <a:t>인공지능학과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빅데이터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정보보호 학과</a:t>
            </a:r>
            <a:r>
              <a:rPr lang="en-US" altLang="ko-KR" sz="1200" b="1" dirty="0"/>
              <a:t>&gt;</a:t>
            </a:r>
            <a:r>
              <a:rPr lang="ko-KR" altLang="en-US" sz="12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AF215-A578-446B-806F-8732D0AD1947}"/>
              </a:ext>
            </a:extLst>
          </p:cNvPr>
          <p:cNvSpPr txBox="1"/>
          <p:nvPr/>
        </p:nvSpPr>
        <p:spPr>
          <a:xfrm>
            <a:off x="3817701" y="1983043"/>
            <a:ext cx="3070071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최우수상 </a:t>
            </a:r>
            <a:r>
              <a:rPr lang="en-US" altLang="ko-KR" sz="1600" dirty="0"/>
              <a:t>: \ 400,000 (1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우수상    </a:t>
            </a:r>
            <a:r>
              <a:rPr lang="en-US" altLang="ko-KR" sz="1600" dirty="0"/>
              <a:t>: \ 150,000 (2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장려상    </a:t>
            </a:r>
            <a:r>
              <a:rPr lang="en-US" altLang="ko-KR" sz="1600" dirty="0"/>
              <a:t>: \ 100,000 (3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BCA4E-9ED9-48BE-BBCE-80FC87D515A3}"/>
              </a:ext>
            </a:extLst>
          </p:cNvPr>
          <p:cNvSpPr txBox="1"/>
          <p:nvPr/>
        </p:nvSpPr>
        <p:spPr>
          <a:xfrm>
            <a:off x="4753779" y="1729316"/>
            <a:ext cx="113043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 err="1"/>
              <a:t>그외</a:t>
            </a:r>
            <a:r>
              <a:rPr lang="ko-KR" altLang="en-US" sz="1200" b="1" dirty="0"/>
              <a:t> 학과</a:t>
            </a:r>
            <a:r>
              <a:rPr lang="en-US" altLang="ko-KR" sz="1200" b="1" dirty="0"/>
              <a:t>&gt;</a:t>
            </a:r>
            <a:r>
              <a:rPr lang="ko-KR" altLang="en-US" sz="1200" b="1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7636F-97B1-4277-8A44-C731FC8A6DAA}"/>
              </a:ext>
            </a:extLst>
          </p:cNvPr>
          <p:cNvSpPr txBox="1"/>
          <p:nvPr/>
        </p:nvSpPr>
        <p:spPr>
          <a:xfrm>
            <a:off x="6839319" y="2002148"/>
            <a:ext cx="3070071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최우수상 </a:t>
            </a:r>
            <a:r>
              <a:rPr lang="en-US" altLang="ko-KR" sz="1600" dirty="0"/>
              <a:t>: \ 400,000 (1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우수상    </a:t>
            </a:r>
            <a:r>
              <a:rPr lang="en-US" altLang="ko-KR" sz="1600" dirty="0"/>
              <a:t>: \ 150,000 (2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장려상    </a:t>
            </a:r>
            <a:r>
              <a:rPr lang="en-US" altLang="ko-KR" sz="1600" dirty="0"/>
              <a:t>: \ 100,000 (3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BCFA8-46DF-42BE-B810-CF443DFC403C}"/>
              </a:ext>
            </a:extLst>
          </p:cNvPr>
          <p:cNvSpPr txBox="1"/>
          <p:nvPr/>
        </p:nvSpPr>
        <p:spPr>
          <a:xfrm>
            <a:off x="7840954" y="1734849"/>
            <a:ext cx="922047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/>
              <a:t>대학원</a:t>
            </a:r>
            <a:r>
              <a:rPr lang="en-US" altLang="ko-KR" sz="1200" b="1" dirty="0"/>
              <a:t>&gt;</a:t>
            </a:r>
            <a:r>
              <a:rPr lang="ko-KR" altLang="en-US" sz="1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038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>
          <a:xfrm>
            <a:off x="479376" y="107922"/>
            <a:ext cx="6094698" cy="584775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Baseline </a:t>
            </a:r>
            <a:r>
              <a:rPr lang="ko-KR" altLang="en-US" dirty="0">
                <a:solidFill>
                  <a:schemeClr val="tx1"/>
                </a:solidFill>
              </a:rPr>
              <a:t>프로그램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344" y="1988840"/>
            <a:ext cx="109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000" b="1" dirty="0">
                <a:hlinkClick r:id="rId2"/>
              </a:rPr>
              <a:t>https://colab.research.google.com/drive/1cji6T9vCYhBhCGQYFT9lbXJ_MCT1K-6k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32855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759</Words>
  <Application>Microsoft Office PowerPoint</Application>
  <PresentationFormat>와이드스크린</PresentationFormat>
  <Paragraphs>155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HY견고딕</vt:lpstr>
      <vt:lpstr>Montserrat</vt:lpstr>
      <vt:lpstr>나눔스퀘어 Bold</vt:lpstr>
      <vt:lpstr>나눔스퀘어 ExtraBold</vt:lpstr>
      <vt:lpstr>나눔스퀘어_ac ExtraBold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02_01_07</dc:title>
  <dc:creator>Microsoft Corporation</dc:creator>
  <cp:lastModifiedBy>user</cp:lastModifiedBy>
  <cp:revision>104</cp:revision>
  <dcterms:created xsi:type="dcterms:W3CDTF">2006-10-05T04:04:58Z</dcterms:created>
  <dcterms:modified xsi:type="dcterms:W3CDTF">2026-06-10T09:48:14Z</dcterms:modified>
</cp:coreProperties>
</file>